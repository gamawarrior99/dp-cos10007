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75" r:id="rId2"/>
    <p:sldId id="285" r:id="rId3"/>
    <p:sldId id="286" r:id="rId4"/>
    <p:sldId id="287" r:id="rId5"/>
    <p:sldId id="305" r:id="rId6"/>
    <p:sldId id="288" r:id="rId7"/>
    <p:sldId id="304" r:id="rId8"/>
    <p:sldId id="303" r:id="rId9"/>
    <p:sldId id="264" r:id="rId10"/>
    <p:sldId id="266" r:id="rId11"/>
    <p:sldId id="295" r:id="rId12"/>
    <p:sldId id="270" r:id="rId13"/>
    <p:sldId id="289" r:id="rId14"/>
    <p:sldId id="306" r:id="rId15"/>
    <p:sldId id="307" r:id="rId16"/>
    <p:sldId id="312" r:id="rId17"/>
    <p:sldId id="280" r:id="rId18"/>
    <p:sldId id="290" r:id="rId19"/>
    <p:sldId id="291" r:id="rId20"/>
    <p:sldId id="276" r:id="rId21"/>
    <p:sldId id="277" r:id="rId22"/>
    <p:sldId id="314" r:id="rId23"/>
    <p:sldId id="315" r:id="rId24"/>
    <p:sldId id="316" r:id="rId25"/>
    <p:sldId id="317" r:id="rId26"/>
    <p:sldId id="293" r:id="rId27"/>
    <p:sldId id="294" r:id="rId28"/>
    <p:sldId id="278" r:id="rId29"/>
    <p:sldId id="279" r:id="rId30"/>
    <p:sldId id="313" r:id="rId31"/>
    <p:sldId id="282" r:id="rId32"/>
    <p:sldId id="281" r:id="rId33"/>
    <p:sldId id="283" r:id="rId34"/>
    <p:sldId id="284" r:id="rId35"/>
    <p:sldId id="318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63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134" autoAdjust="0"/>
  </p:normalViewPr>
  <p:slideViewPr>
    <p:cSldViewPr>
      <p:cViewPr varScale="1">
        <p:scale>
          <a:sx n="111" d="100"/>
          <a:sy n="111" d="100"/>
        </p:scale>
        <p:origin x="153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22391-FC7C-44D1-B8A0-4DDB3437D001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42EBA-E800-4694-8A48-1CAC93F12F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902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76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tags" Target="../tags/tag2.xml"/><Relationship Id="rId7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4.xml"/><Relationship Id="rId4" Type="http://schemas.openxmlformats.org/officeDocument/2006/relationships/tags" Target="../tags/tag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tags" Target="../tags/tag6.xml"/><Relationship Id="rId7" Type="http://schemas.openxmlformats.org/officeDocument/2006/relationships/oleObject" Target="../embeddings/oleObject2.bin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10.xml"/><Relationship Id="rId7" Type="http://schemas.openxmlformats.org/officeDocument/2006/relationships/oleObject" Target="../embeddings/oleObject3.bin"/><Relationship Id="rId2" Type="http://schemas.openxmlformats.org/officeDocument/2006/relationships/tags" Target="../tags/tag9.xml"/><Relationship Id="rId1" Type="http://schemas.openxmlformats.org/officeDocument/2006/relationships/vmlDrawing" Target="../drawings/vmlDrawing3.v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tags" Target="../tags/tag14.xml"/><Relationship Id="rId7" Type="http://schemas.openxmlformats.org/officeDocument/2006/relationships/oleObject" Target="../embeddings/oleObject4.bin"/><Relationship Id="rId2" Type="http://schemas.openxmlformats.org/officeDocument/2006/relationships/tags" Target="../tags/tag13.xml"/><Relationship Id="rId1" Type="http://schemas.openxmlformats.org/officeDocument/2006/relationships/vmlDrawing" Target="../drawings/vmlDrawing4.v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LW8Rfh6TzGg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82601" y="927100"/>
            <a:ext cx="8432800" cy="2931572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300"/>
              </a:lnSpc>
              <a:tabLst>
                <a:tab pos="1612900" algn="l"/>
              </a:tabLst>
            </a:pPr>
            <a:r>
              <a:rPr lang="en-US" altLang="zh-CN" sz="48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Developing</a:t>
            </a:r>
            <a:r>
              <a:rPr lang="en-US" altLang="zh-CN" sz="36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Software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300"/>
              </a:lnSpc>
              <a:tabLst>
                <a:tab pos="161290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2: </a:t>
            </a:r>
            <a:r>
              <a:rPr lang="en-US" altLang="zh-CN" sz="4400" dirty="0">
                <a:solidFill>
                  <a:schemeClr val="accent6"/>
                </a:solidFill>
                <a:latin typeface="Arial" pitchFamily="34" charset="0"/>
                <a:ea typeface="+mj-ea"/>
                <a:cs typeface="Arial" panose="020B0604020202020204" pitchFamily="34" charset="0"/>
              </a:rPr>
              <a:t> 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300"/>
              </a:lnSpc>
              <a:tabLst>
                <a:tab pos="161290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Revisit Technical Programming – </a:t>
            </a:r>
          </a:p>
          <a:p>
            <a:pPr>
              <a:lnSpc>
                <a:spcPts val="3300"/>
              </a:lnSpc>
              <a:tabLst>
                <a:tab pos="161290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Structured programming with functions: passing parameters by value and by reference</a:t>
            </a:r>
          </a:p>
        </p:txBody>
      </p:sp>
    </p:spTree>
    <p:extLst>
      <p:ext uri="{BB962C8B-B14F-4D97-AF65-F5344CB8AC3E}">
        <p14:creationId xmlns:p14="http://schemas.microsoft.com/office/powerpoint/2010/main" val="168958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5" name="TextBox 1"/>
          <p:cNvSpPr txBox="1"/>
          <p:nvPr/>
        </p:nvSpPr>
        <p:spPr>
          <a:xfrm>
            <a:off x="304800" y="1117600"/>
            <a:ext cx="8130431" cy="162352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marL="342900" indent="-342900">
              <a:lnSpc>
                <a:spcPts val="2100"/>
              </a:lnSpc>
              <a:buFont typeface="Wingdings" pitchFamily="2" charset="2"/>
              <a:buChar char="§"/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array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collection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variables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same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type.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 marL="342900" indent="-342900">
              <a:lnSpc>
                <a:spcPts val="3000"/>
              </a:lnSpc>
              <a:buFont typeface="Wingdings" pitchFamily="2" charset="2"/>
              <a:buChar char="§"/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When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array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declared,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consecutive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memory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locations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are</a:t>
            </a:r>
          </a:p>
          <a:p>
            <a:pPr>
              <a:lnSpc>
                <a:spcPts val="2800"/>
              </a:lnSpc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allocated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compiler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(index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range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>
              <a:lnSpc>
                <a:spcPts val="3400"/>
              </a:lnSpc>
              <a:tabLst/>
            </a:pP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h[4];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297796" y="5054600"/>
            <a:ext cx="8846204" cy="121315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marL="342900" indent="-342900">
              <a:lnSpc>
                <a:spcPts val="2100"/>
              </a:lnSpc>
              <a:buFont typeface="Wingdings" pitchFamily="2" charset="2"/>
              <a:buChar char="§"/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array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constant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pointer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element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array.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 marL="342900" indent="-342900">
              <a:lnSpc>
                <a:spcPts val="3000"/>
              </a:lnSpc>
              <a:buFont typeface="Wingdings" pitchFamily="2" charset="2"/>
              <a:buChar char="§"/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Pointers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can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subscripted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like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array.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above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example,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</a:t>
            </a:r>
          </a:p>
          <a:p>
            <a:pPr>
              <a:lnSpc>
                <a:spcPts val="3000"/>
              </a:lnSpc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have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hPtr=h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then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hPtr[1]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refers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array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element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h[1]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41300" y="342900"/>
            <a:ext cx="5232394" cy="42056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  <a:tabLst/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Recall: Arrays &amp; Pointers 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8686800" y="6477000"/>
            <a:ext cx="889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404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195015" y="2572663"/>
            <a:ext cx="6350000" cy="2044700"/>
            <a:chOff x="1485900" y="1981200"/>
            <a:chExt cx="6350000" cy="2044700"/>
          </a:xfrm>
        </p:grpSpPr>
        <p:pic>
          <p:nvPicPr>
            <p:cNvPr id="1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85900" y="1981200"/>
              <a:ext cx="6350000" cy="2044700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4203700" y="3581400"/>
              <a:ext cx="9144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2200" dirty="0" smtClean="0">
                  <a:solidFill>
                    <a:srgbClr val="002E8A"/>
                  </a:solidFill>
                </a:rPr>
                <a:t>1020</a:t>
              </a:r>
              <a:endParaRPr lang="en-AU" sz="2200" dirty="0">
                <a:solidFill>
                  <a:srgbClr val="002E8A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953000" y="3581400"/>
              <a:ext cx="9144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2200" dirty="0">
                  <a:solidFill>
                    <a:srgbClr val="002E8A"/>
                  </a:solidFill>
                </a:rPr>
                <a:t>1024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715000" y="3595013"/>
              <a:ext cx="9144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2200" dirty="0" smtClean="0">
                  <a:solidFill>
                    <a:srgbClr val="002E8A"/>
                  </a:solidFill>
                </a:rPr>
                <a:t>1028</a:t>
              </a:r>
              <a:endParaRPr lang="en-AU" sz="2200" dirty="0">
                <a:solidFill>
                  <a:srgbClr val="002E8A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520873" y="3581400"/>
              <a:ext cx="9144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2200" dirty="0" smtClean="0">
                  <a:solidFill>
                    <a:srgbClr val="002E8A"/>
                  </a:solidFill>
                </a:rPr>
                <a:t>1032</a:t>
              </a:r>
              <a:endParaRPr lang="en-AU" sz="2200" dirty="0">
                <a:solidFill>
                  <a:srgbClr val="002E8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645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70000"/>
            <a:ext cx="9144000" cy="4318000"/>
          </a:xfrm>
          <a:prstGeom prst="rect">
            <a:avLst/>
          </a:prstGeom>
          <a:noFill/>
        </p:spPr>
      </p:pic>
      <p:sp>
        <p:nvSpPr>
          <p:cNvPr id="4" name="TextBox 1"/>
          <p:cNvSpPr txBox="1"/>
          <p:nvPr/>
        </p:nvSpPr>
        <p:spPr>
          <a:xfrm>
            <a:off x="177800" y="520700"/>
            <a:ext cx="4001095" cy="42056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Pointers and arrays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45B482DE-8D89-4B44-B79B-AEBA9A06A7AB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93461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46100"/>
            <a:ext cx="9144000" cy="57531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686800" y="6477000"/>
            <a:ext cx="179536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23317B86-0B76-4C5F-8BDC-102AADD99B2F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178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5" name="TextBox 1"/>
          <p:cNvSpPr txBox="1"/>
          <p:nvPr/>
        </p:nvSpPr>
        <p:spPr>
          <a:xfrm>
            <a:off x="488950" y="3061284"/>
            <a:ext cx="8470900" cy="3924151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 an element in an array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h[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altLang="zh-CN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at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index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we can retrieve the address of a particular element in the memory using either</a:t>
            </a:r>
          </a:p>
          <a:p>
            <a:pPr>
              <a:lnSpc>
                <a:spcPct val="150000"/>
              </a:lnSpc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altLang="zh-CN"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&amp;h[</a:t>
            </a:r>
            <a:r>
              <a:rPr lang="en-US" altLang="zh-CN" sz="2400" b="1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 simply </a:t>
            </a:r>
            <a:r>
              <a:rPr lang="en-US" altLang="zh-CN"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h+i</a:t>
            </a:r>
            <a:r>
              <a:rPr lang="en-US" altLang="zh-CN"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value of the array </a:t>
            </a:r>
            <a:r>
              <a:rPr lang="en-US" altLang="zh-CN"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h[</a:t>
            </a:r>
            <a:r>
              <a:rPr lang="en-US" altLang="zh-CN" sz="2400" b="1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 index </a:t>
            </a:r>
            <a:r>
              <a:rPr lang="en-US" altLang="zh-CN" sz="2400" b="1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can be retrieved using</a:t>
            </a:r>
            <a:endParaRPr lang="en-US" altLang="zh-CN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tabLst/>
            </a:pPr>
            <a:r>
              <a:rPr lang="en-US" altLang="zh-CN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altLang="zh-CN"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h[</a:t>
            </a:r>
            <a:r>
              <a:rPr lang="en-US" altLang="zh-CN" sz="2400" b="1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altLang="zh-CN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zh-CN"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h+i</a:t>
            </a:r>
            <a:r>
              <a:rPr lang="en-US" altLang="zh-CN"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  <a:tabLst/>
            </a:pP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Never use * in front of array to dereference -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*h[</a:t>
            </a:r>
            <a:r>
              <a:rPr lang="en-US" altLang="zh-CN" sz="24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 </a:t>
            </a:r>
            <a:endParaRPr lang="en-US" altLang="zh-CN" sz="2400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tabLst/>
            </a:pPr>
            <a:endParaRPr lang="en-US" altLang="zh-CN" sz="2400" b="1" i="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241300" y="342900"/>
            <a:ext cx="5232394" cy="42056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  <a:tabLst/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Recall: Arrays &amp; Pointers 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8686800" y="6477000"/>
            <a:ext cx="889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404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092200" y="997682"/>
            <a:ext cx="6350000" cy="2044700"/>
            <a:chOff x="1485900" y="1981200"/>
            <a:chExt cx="6350000" cy="2044700"/>
          </a:xfrm>
        </p:grpSpPr>
        <p:pic>
          <p:nvPicPr>
            <p:cNvPr id="1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85900" y="1981200"/>
              <a:ext cx="6350000" cy="2044700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4203700" y="3581400"/>
              <a:ext cx="9144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2200" dirty="0" smtClean="0">
                  <a:solidFill>
                    <a:srgbClr val="002E8A"/>
                  </a:solidFill>
                </a:rPr>
                <a:t>1020</a:t>
              </a:r>
              <a:endParaRPr lang="en-AU" sz="2200" dirty="0">
                <a:solidFill>
                  <a:srgbClr val="002E8A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953000" y="3581400"/>
              <a:ext cx="9144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2200" dirty="0">
                  <a:solidFill>
                    <a:srgbClr val="002E8A"/>
                  </a:solidFill>
                </a:rPr>
                <a:t>1024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715000" y="3595013"/>
              <a:ext cx="9144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2200" dirty="0" smtClean="0">
                  <a:solidFill>
                    <a:srgbClr val="002E8A"/>
                  </a:solidFill>
                </a:rPr>
                <a:t>1028</a:t>
              </a:r>
              <a:endParaRPr lang="en-AU" sz="2200" dirty="0">
                <a:solidFill>
                  <a:srgbClr val="002E8A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520873" y="3581400"/>
              <a:ext cx="9144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2200" dirty="0" smtClean="0">
                  <a:solidFill>
                    <a:srgbClr val="002E8A"/>
                  </a:solidFill>
                </a:rPr>
                <a:t>1032</a:t>
              </a:r>
              <a:endParaRPr lang="en-AU" sz="2200" dirty="0">
                <a:solidFill>
                  <a:srgbClr val="002E8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05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251142" y="1160487"/>
            <a:ext cx="8569325" cy="5076825"/>
          </a:xfrm>
          <a:custGeom>
            <a:avLst/>
            <a:gdLst>
              <a:gd name="connsiteX0" fmla="*/ 0 w 8569325"/>
              <a:gd name="connsiteY0" fmla="*/ 0 h 5076825"/>
              <a:gd name="connsiteX1" fmla="*/ 8569325 w 8569325"/>
              <a:gd name="connsiteY1" fmla="*/ 0 h 5076825"/>
              <a:gd name="connsiteX2" fmla="*/ 8569325 w 8569325"/>
              <a:gd name="connsiteY2" fmla="*/ 5076825 h 5076825"/>
              <a:gd name="connsiteX3" fmla="*/ 0 w 8569325"/>
              <a:gd name="connsiteY3" fmla="*/ 5076825 h 5076825"/>
              <a:gd name="connsiteX4" fmla="*/ 0 w 8569325"/>
              <a:gd name="connsiteY4" fmla="*/ 0 h 507682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569325" h="5076825">
                <a:moveTo>
                  <a:pt x="0" y="0"/>
                </a:moveTo>
                <a:lnTo>
                  <a:pt x="8569325" y="0"/>
                </a:lnTo>
                <a:lnTo>
                  <a:pt x="8569325" y="5076825"/>
                </a:lnTo>
                <a:lnTo>
                  <a:pt x="0" y="5076825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251142" y="609600"/>
            <a:ext cx="8759129" cy="5283498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Output?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sz="1200" dirty="0" smtClean="0"/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include &lt;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stdio.h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&gt;</a:t>
            </a:r>
          </a:p>
          <a:p>
            <a:pPr marL="176213">
              <a:lnSpc>
                <a:spcPct val="150000"/>
              </a:lnSpc>
              <a:tabLst>
                <a:tab pos="152400" algn="l"/>
                <a:tab pos="203200" algn="l"/>
                <a:tab pos="265113" algn="l"/>
                <a:tab pos="539750" algn="l"/>
                <a:tab pos="1308100" algn="l"/>
              </a:tabLst>
            </a:pP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main()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      </a:t>
            </a: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A[5] = {10, 4, 5, 8, 1};  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;  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for(</a:t>
            </a: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=0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; 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&lt;5; 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++)  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{    </a:t>
            </a: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("The address  is %d \n", &amp;A[0]);//Prints the address of respective element of the array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("The address is %d \n", 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A+i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);//Prints the address of respective element of the array   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("The value  is %d\n", A[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]);//Prints the value of the 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respective 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address of the element    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("The value  is %d \n", *(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A+i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));//Prints the value of the 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respective 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address of the element   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}   </a:t>
            </a: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 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0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;</a:t>
            </a: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  <a:endParaRPr lang="en-US" altLang="zh-CN" sz="1200" b="1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8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endParaRPr lang="en-US" altLang="zh-CN" sz="1800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</p:txBody>
      </p:sp>
      <p:sp>
        <p:nvSpPr>
          <p:cNvPr id="5" name="TextBox 1"/>
          <p:cNvSpPr txBox="1"/>
          <p:nvPr/>
        </p:nvSpPr>
        <p:spPr>
          <a:xfrm>
            <a:off x="8686800" y="6477000"/>
            <a:ext cx="889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404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1741396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251142" y="1160487"/>
            <a:ext cx="8569325" cy="5076825"/>
          </a:xfrm>
          <a:custGeom>
            <a:avLst/>
            <a:gdLst>
              <a:gd name="connsiteX0" fmla="*/ 0 w 8569325"/>
              <a:gd name="connsiteY0" fmla="*/ 0 h 5076825"/>
              <a:gd name="connsiteX1" fmla="*/ 8569325 w 8569325"/>
              <a:gd name="connsiteY1" fmla="*/ 0 h 5076825"/>
              <a:gd name="connsiteX2" fmla="*/ 8569325 w 8569325"/>
              <a:gd name="connsiteY2" fmla="*/ 5076825 h 5076825"/>
              <a:gd name="connsiteX3" fmla="*/ 0 w 8569325"/>
              <a:gd name="connsiteY3" fmla="*/ 5076825 h 5076825"/>
              <a:gd name="connsiteX4" fmla="*/ 0 w 8569325"/>
              <a:gd name="connsiteY4" fmla="*/ 0 h 507682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569325" h="5076825">
                <a:moveTo>
                  <a:pt x="0" y="0"/>
                </a:moveTo>
                <a:lnTo>
                  <a:pt x="8569325" y="0"/>
                </a:lnTo>
                <a:lnTo>
                  <a:pt x="8569325" y="5076825"/>
                </a:lnTo>
                <a:lnTo>
                  <a:pt x="0" y="5076825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251142" y="609600"/>
            <a:ext cx="8759129" cy="5283498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Output?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sz="1200" dirty="0" smtClean="0"/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include &lt;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stdio.h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&gt;</a:t>
            </a:r>
          </a:p>
          <a:p>
            <a:pPr marL="176213">
              <a:lnSpc>
                <a:spcPct val="150000"/>
              </a:lnSpc>
              <a:tabLst>
                <a:tab pos="152400" algn="l"/>
                <a:tab pos="203200" algn="l"/>
                <a:tab pos="265113" algn="l"/>
                <a:tab pos="539750" algn="l"/>
                <a:tab pos="1308100" algn="l"/>
              </a:tabLst>
            </a:pP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main()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      </a:t>
            </a: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A[5] = {10, 4, 5, 8, 1};  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;  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for(</a:t>
            </a: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=0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; 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&lt;5; 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++)  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{    </a:t>
            </a: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("The address  is %d \n", &amp;A[0]);//Prints the address 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 the 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respective element of the array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("The address is %d \n", 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A+i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);//Prints the address 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 the 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respective element of the array   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("The value  is %d\n", A[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]);//Prints the value of the 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respective 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address of the element    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AU" altLang="zh-CN" sz="1200" b="1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("The value  is %d \n", *(</a:t>
            </a:r>
            <a:r>
              <a:rPr lang="en-AU" altLang="zh-CN" sz="1200" b="1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A+i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));//Prints the value of the 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respective 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address of the element    </a:t>
            </a:r>
            <a:endParaRPr lang="en-AU" altLang="zh-CN" sz="1200" b="1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}   </a:t>
            </a: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 </a:t>
            </a:r>
            <a:r>
              <a:rPr lang="en-AU" altLang="zh-CN" sz="1200" b="1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0</a:t>
            </a: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;</a:t>
            </a:r>
          </a:p>
          <a:p>
            <a:pPr marL="176213">
              <a:lnSpc>
                <a:spcPct val="1500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AU" altLang="zh-CN" sz="1200" b="1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  <a:endParaRPr lang="en-US" altLang="zh-CN" sz="1200" b="1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8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endParaRPr lang="en-US" altLang="zh-CN" sz="1800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</p:txBody>
      </p:sp>
      <p:sp>
        <p:nvSpPr>
          <p:cNvPr id="5" name="TextBox 1"/>
          <p:cNvSpPr txBox="1"/>
          <p:nvPr/>
        </p:nvSpPr>
        <p:spPr>
          <a:xfrm>
            <a:off x="8686800" y="6477000"/>
            <a:ext cx="889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404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599" t="75833" r="89601" b="5833"/>
          <a:stretch/>
        </p:blipFill>
        <p:spPr>
          <a:xfrm>
            <a:off x="5194996" y="453910"/>
            <a:ext cx="2057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6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251142" y="1160487"/>
            <a:ext cx="8569325" cy="5076825"/>
          </a:xfrm>
          <a:custGeom>
            <a:avLst/>
            <a:gdLst>
              <a:gd name="connsiteX0" fmla="*/ 0 w 8569325"/>
              <a:gd name="connsiteY0" fmla="*/ 0 h 5076825"/>
              <a:gd name="connsiteX1" fmla="*/ 8569325 w 8569325"/>
              <a:gd name="connsiteY1" fmla="*/ 0 h 5076825"/>
              <a:gd name="connsiteX2" fmla="*/ 8569325 w 8569325"/>
              <a:gd name="connsiteY2" fmla="*/ 5076825 h 5076825"/>
              <a:gd name="connsiteX3" fmla="*/ 0 w 8569325"/>
              <a:gd name="connsiteY3" fmla="*/ 5076825 h 5076825"/>
              <a:gd name="connsiteX4" fmla="*/ 0 w 8569325"/>
              <a:gd name="connsiteY4" fmla="*/ 0 h 507682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569325" h="5076825">
                <a:moveTo>
                  <a:pt x="0" y="0"/>
                </a:moveTo>
                <a:lnTo>
                  <a:pt x="8569325" y="0"/>
                </a:lnTo>
                <a:lnTo>
                  <a:pt x="8569325" y="5076825"/>
                </a:lnTo>
                <a:lnTo>
                  <a:pt x="0" y="5076825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74900" y="1536700"/>
            <a:ext cx="6756400" cy="16891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0500" y="596900"/>
            <a:ext cx="8367675" cy="5983689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Output?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8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#include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&lt;stdio.h&gt;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main()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*aPtr;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**aPtrPtr;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a=6;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aPtr=&amp;a;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aPtrPtr=&amp;aPtr;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printf("The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address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%p,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and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value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aPtr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%p.\n",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	</a:t>
            </a:r>
            <a:r>
              <a:rPr lang="en-US" altLang="zh-CN" sz="1800" dirty="0" smtClean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&amp;a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aPtr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printf("The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value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%d,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and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value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*aPtr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%d.\n",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	</a:t>
            </a:r>
            <a:r>
              <a:rPr lang="en-US" altLang="zh-CN" sz="1800" dirty="0" smtClean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a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*aPtr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printf("Use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combination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&amp;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and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*:\n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&amp;*aPtr=%p,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and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*&amp;aPtr=%p.\n",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&amp;*aPtr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*&amp;aPtr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printf("The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address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aPtr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%p,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and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value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aPtrPtr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%p.\n",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&amp;aPtr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aPtrPtr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0;</a:t>
            </a:r>
          </a:p>
          <a:p>
            <a:pPr>
              <a:lnSpc>
                <a:spcPts val="2100"/>
              </a:lnSpc>
              <a:tabLst>
                <a:tab pos="139700" algn="l"/>
                <a:tab pos="152400" algn="l"/>
                <a:tab pos="203200" algn="l"/>
                <a:tab pos="393700" algn="l"/>
                <a:tab pos="1308100" algn="l"/>
              </a:tabLst>
            </a:pPr>
            <a:r>
              <a:rPr lang="en-US" altLang="zh-CN" dirty="0" smtClean="0"/>
              <a:t>		</a:t>
            </a:r>
            <a:r>
              <a:rPr lang="en-US" altLang="zh-CN" sz="18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</p:txBody>
      </p:sp>
      <p:sp>
        <p:nvSpPr>
          <p:cNvPr id="5" name="TextBox 1"/>
          <p:cNvSpPr txBox="1"/>
          <p:nvPr/>
        </p:nvSpPr>
        <p:spPr>
          <a:xfrm>
            <a:off x="8686800" y="6477000"/>
            <a:ext cx="889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r>
              <a:rPr lang="en-US" altLang="zh-CN" sz="1404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390635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6268555" y="4800600"/>
            <a:ext cx="2335898" cy="830999"/>
          </a:xfrm>
          <a:custGeom>
            <a:avLst/>
            <a:gdLst>
              <a:gd name="connsiteX0" fmla="*/ 0 w 2335898"/>
              <a:gd name="connsiteY0" fmla="*/ 0 h 830999"/>
              <a:gd name="connsiteX1" fmla="*/ 2335898 w 2335898"/>
              <a:gd name="connsiteY1" fmla="*/ 0 h 830999"/>
              <a:gd name="connsiteX2" fmla="*/ 2335898 w 2335898"/>
              <a:gd name="connsiteY2" fmla="*/ 830999 h 830999"/>
              <a:gd name="connsiteX3" fmla="*/ 0 w 2335898"/>
              <a:gd name="connsiteY3" fmla="*/ 830999 h 830999"/>
              <a:gd name="connsiteX4" fmla="*/ 0 w 2335898"/>
              <a:gd name="connsiteY4" fmla="*/ 0 h 83099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335898" h="830999">
                <a:moveTo>
                  <a:pt x="0" y="0"/>
                </a:moveTo>
                <a:lnTo>
                  <a:pt x="2335898" y="0"/>
                </a:lnTo>
                <a:lnTo>
                  <a:pt x="2335898" y="830999"/>
                </a:lnTo>
                <a:lnTo>
                  <a:pt x="0" y="830999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686800" y="6477000"/>
            <a:ext cx="228600" cy="20377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3290ACEA-4439-4945-A3C8-3563488079ED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9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711200" y="558800"/>
            <a:ext cx="6437660" cy="42056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Programmer-Defined Functions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749300" y="1066800"/>
            <a:ext cx="1162178" cy="4565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200"/>
              </a:lnSpc>
              <a:tabLst/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295400" y="1752600"/>
            <a:ext cx="6402144" cy="4431983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600"/>
              </a:lnSpc>
              <a:tabLst/>
            </a:pP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#include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&lt;stdio.h&gt;</a:t>
            </a:r>
          </a:p>
          <a:p>
            <a:pPr>
              <a:lnSpc>
                <a:spcPts val="1900"/>
              </a:lnSpc>
              <a:tabLst/>
            </a:pP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float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pi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(void);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/*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function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prototype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*/</a:t>
            </a:r>
          </a:p>
          <a:p>
            <a:pPr>
              <a:lnSpc>
                <a:spcPts val="1900"/>
              </a:lnSpc>
              <a:tabLst/>
            </a:pPr>
            <a:endParaRPr lang="en-US" altLang="zh-CN" sz="2004" dirty="0" smtClean="0">
              <a:solidFill>
                <a:srgbClr val="0070C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000"/>
              </a:lnSpc>
              <a:tabLst/>
            </a:pPr>
            <a:r>
              <a:rPr lang="en-US" altLang="zh-CN" sz="2004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main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</a:p>
          <a:p>
            <a:pPr>
              <a:lnSpc>
                <a:spcPts val="2000"/>
              </a:lnSpc>
              <a:tabLst/>
            </a:pP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</a:p>
          <a:p>
            <a:pPr lvl="1">
              <a:lnSpc>
                <a:spcPts val="2600"/>
              </a:lnSpc>
            </a:pP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float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1">
              <a:lnSpc>
                <a:spcPts val="2400"/>
              </a:lnSpc>
            </a:pP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=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pi(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 lvl="1">
              <a:lnSpc>
                <a:spcPts val="2400"/>
              </a:lnSpc>
            </a:pPr>
            <a:r>
              <a:rPr lang="en-US" altLang="zh-CN" sz="2004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(“The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value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pi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%f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\n”,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 lvl="1">
              <a:lnSpc>
                <a:spcPts val="2400"/>
              </a:lnSpc>
            </a:pP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eturn 0;</a:t>
            </a:r>
          </a:p>
          <a:p>
            <a:pPr>
              <a:lnSpc>
                <a:spcPts val="2000"/>
              </a:lnSpc>
              <a:tabLst/>
            </a:pP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  <a:p>
            <a:pPr>
              <a:lnSpc>
                <a:spcPts val="2000"/>
              </a:lnSpc>
              <a:tabLst/>
            </a:pPr>
            <a:endParaRPr lang="en-US" altLang="zh-CN" sz="2004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004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float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pi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(void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)</a:t>
            </a:r>
          </a:p>
          <a:p>
            <a:pPr>
              <a:lnSpc>
                <a:spcPts val="2000"/>
              </a:lnSpc>
            </a:pP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{</a:t>
            </a:r>
            <a:endParaRPr lang="en-US" altLang="zh-CN" sz="2004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sz="2004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  return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3.141593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;</a:t>
            </a:r>
          </a:p>
          <a:p>
            <a:pPr>
              <a:lnSpc>
                <a:spcPts val="2000"/>
              </a:lnSpc>
            </a:pPr>
            <a:r>
              <a:rPr lang="en-US" altLang="zh-CN" sz="2004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}</a:t>
            </a:r>
          </a:p>
          <a:p>
            <a:pPr>
              <a:lnSpc>
                <a:spcPts val="2000"/>
              </a:lnSpc>
              <a:tabLst/>
            </a:pPr>
            <a:endParaRPr lang="en-US" altLang="zh-CN" sz="2004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</p:txBody>
      </p:sp>
      <p:sp>
        <p:nvSpPr>
          <p:cNvPr id="15" name="TextBox 1"/>
          <p:cNvSpPr txBox="1"/>
          <p:nvPr/>
        </p:nvSpPr>
        <p:spPr>
          <a:xfrm>
            <a:off x="6350000" y="4946168"/>
            <a:ext cx="2120900" cy="635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100"/>
              </a:lnSpc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pPr>
              <a:lnSpc>
                <a:spcPts val="2800"/>
              </a:lnSpc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3.141593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" y="6632297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6039163"/>
            <a:ext cx="6651345" cy="361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tabLst/>
            </a:pPr>
            <a:r>
              <a:rPr lang="en-US" altLang="zh-CN" sz="1400" dirty="0">
                <a:solidFill>
                  <a:srgbClr val="000000"/>
                </a:solidFill>
                <a:latin typeface="Wingdings" pitchFamily="18" charset="0"/>
                <a:cs typeface="Wingdings" pitchFamily="18" charset="0"/>
              </a:rPr>
              <a:t>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function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returns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value except a void function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439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686800" y="6477000"/>
            <a:ext cx="228600" cy="20377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3290ACEA-4439-4945-A3C8-3563488079ED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304800" y="558800"/>
            <a:ext cx="6437660" cy="42056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Programmer-Defined Functions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270000" y="1752600"/>
            <a:ext cx="6402144" cy="300612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900"/>
              </a:lnSpc>
              <a:tabLst/>
            </a:pP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float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pi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(void);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altLang="zh-CN" sz="2004" dirty="0" smtClean="0">
              <a:solidFill>
                <a:srgbClr val="0070C0"/>
              </a:solidFill>
              <a:latin typeface="Consolas" pitchFamily="18" charset="0"/>
              <a:cs typeface="Consolas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0500" y="6632297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4200" y="1295400"/>
            <a:ext cx="3057247" cy="260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ts val="1000"/>
              </a:lnSpc>
              <a:buFont typeface="Wingdings" charset="2"/>
              <a:buChar char="§"/>
            </a:pPr>
            <a:r>
              <a:rPr lang="en-US" altLang="zh-CN" sz="2400" b="1" dirty="0">
                <a:latin typeface="Times New Roman"/>
                <a:cs typeface="Times New Roman"/>
              </a:rPr>
              <a:t>Function </a:t>
            </a:r>
            <a:r>
              <a:rPr lang="en-US" altLang="zh-CN" sz="2400" b="1" dirty="0" smtClean="0">
                <a:latin typeface="Times New Roman"/>
                <a:cs typeface="Times New Roman"/>
              </a:rPr>
              <a:t>Prototype</a:t>
            </a:r>
            <a:endParaRPr lang="en-US" altLang="zh-CN" sz="24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29400" y="3450325"/>
            <a:ext cx="2819400" cy="1121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float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pi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(void)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   return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3.141593;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965200" y="2057400"/>
            <a:ext cx="7696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It informs the compiler that the main function will reference a function named 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048000"/>
            <a:ext cx="3082895" cy="260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ts val="1000"/>
              </a:lnSpc>
              <a:buFont typeface="Wingdings" charset="2"/>
              <a:buChar char="§"/>
            </a:pPr>
            <a:r>
              <a:rPr lang="en-US" altLang="zh-CN" sz="2400" b="1" dirty="0">
                <a:latin typeface="Times New Roman"/>
                <a:cs typeface="Times New Roman"/>
              </a:rPr>
              <a:t>Function </a:t>
            </a:r>
            <a:r>
              <a:rPr lang="en-US" altLang="zh-CN" sz="2400" b="1" dirty="0" smtClean="0">
                <a:latin typeface="Times New Roman"/>
                <a:cs typeface="Times New Roman"/>
              </a:rPr>
              <a:t>Definition</a:t>
            </a:r>
            <a:endParaRPr lang="en-US" altLang="zh-CN" sz="24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4400" y="3429000"/>
            <a:ext cx="5410200" cy="13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dirty="0" err="1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r</a:t>
            </a:r>
            <a:r>
              <a:rPr lang="en-US" altLang="zh-CN" dirty="0" err="1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eturn_type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dirty="0" err="1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func_name</a:t>
            </a:r>
            <a:r>
              <a:rPr lang="en-US" altLang="zh-CN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(</a:t>
            </a:r>
            <a:r>
              <a:rPr lang="en-US" altLang="zh-CN" dirty="0" err="1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para_declarations</a:t>
            </a:r>
            <a:r>
              <a:rPr lang="en-US" altLang="zh-CN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)</a:t>
            </a:r>
            <a:endParaRPr lang="en-US" altLang="zh-CN" dirty="0">
              <a:solidFill>
                <a:srgbClr val="0070C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  </a:t>
            </a:r>
            <a:r>
              <a:rPr lang="en-US" altLang="zh-CN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statements; 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 return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3.141593;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}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6477000" y="3429000"/>
            <a:ext cx="0" cy="1219200"/>
          </a:xfrm>
          <a:prstGeom prst="line">
            <a:avLst/>
          </a:prstGeom>
          <a:ln>
            <a:solidFill>
              <a:srgbClr val="4F81BD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9600" y="5073245"/>
            <a:ext cx="2326278" cy="260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ts val="1000"/>
              </a:lnSpc>
              <a:buFont typeface="Wingdings" charset="2"/>
              <a:buChar char="§"/>
            </a:pPr>
            <a:r>
              <a:rPr lang="en-US" altLang="zh-CN" sz="2400" b="1" dirty="0">
                <a:latin typeface="Times New Roman"/>
                <a:cs typeface="Times New Roman"/>
              </a:rPr>
              <a:t>Function </a:t>
            </a:r>
            <a:r>
              <a:rPr lang="en-US" altLang="zh-CN" sz="2400" b="1" dirty="0" smtClean="0">
                <a:latin typeface="Times New Roman"/>
                <a:cs typeface="Times New Roman"/>
              </a:rPr>
              <a:t>Call</a:t>
            </a:r>
            <a:endParaRPr lang="en-US" altLang="zh-CN" sz="24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48000" y="4876800"/>
            <a:ext cx="1559229" cy="400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ts val="2400"/>
              </a:lnSpc>
            </a:pP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=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pi(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341203"/>
            <a:ext cx="7924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The execution of a program always begins with the main function. The programmer-defined function is called when the program encounters the function name pi</a:t>
            </a:r>
          </a:p>
        </p:txBody>
      </p:sp>
    </p:spTree>
    <p:extLst>
      <p:ext uri="{BB962C8B-B14F-4D97-AF65-F5344CB8AC3E}">
        <p14:creationId xmlns:p14="http://schemas.microsoft.com/office/powerpoint/2010/main" val="36164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2051723" y="4544543"/>
            <a:ext cx="5472608" cy="1692770"/>
          </a:xfrm>
          <a:custGeom>
            <a:avLst/>
            <a:gdLst>
              <a:gd name="connsiteX0" fmla="*/ 0 w 5472608"/>
              <a:gd name="connsiteY0" fmla="*/ 0 h 1692770"/>
              <a:gd name="connsiteX1" fmla="*/ 5472608 w 5472608"/>
              <a:gd name="connsiteY1" fmla="*/ 0 h 1692770"/>
              <a:gd name="connsiteX2" fmla="*/ 5472608 w 5472608"/>
              <a:gd name="connsiteY2" fmla="*/ 1692770 h 1692770"/>
              <a:gd name="connsiteX3" fmla="*/ 0 w 5472608"/>
              <a:gd name="connsiteY3" fmla="*/ 1692770 h 1692770"/>
              <a:gd name="connsiteX4" fmla="*/ 0 w 5472608"/>
              <a:gd name="connsiteY4" fmla="*/ 0 h 169277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472608" h="1692770">
                <a:moveTo>
                  <a:pt x="0" y="0"/>
                </a:moveTo>
                <a:lnTo>
                  <a:pt x="5472608" y="0"/>
                </a:lnTo>
                <a:lnTo>
                  <a:pt x="5472608" y="1692770"/>
                </a:lnTo>
                <a:lnTo>
                  <a:pt x="0" y="1692770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3" name="TextBox 1"/>
          <p:cNvSpPr txBox="1"/>
          <p:nvPr/>
        </p:nvSpPr>
        <p:spPr>
          <a:xfrm>
            <a:off x="660400" y="381000"/>
            <a:ext cx="2077492" cy="42056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  <a:tabLst/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Recursion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B16EF17F-4EF6-4DDA-A99C-3165FEA9E522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965200" y="1219200"/>
            <a:ext cx="7912422" cy="506343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marL="342900" indent="-342900">
              <a:lnSpc>
                <a:spcPts val="2100"/>
              </a:lnSpc>
              <a:buFont typeface="Wingdings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recursive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that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calls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itself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either</a:t>
            </a:r>
          </a:p>
          <a:p>
            <a:pPr>
              <a:lnSpc>
                <a:spcPts val="28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directly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indirectly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through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another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function.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 marL="342900" indent="-342900">
              <a:lnSpc>
                <a:spcPts val="3000"/>
              </a:lnSpc>
              <a:buFont typeface="Wingdings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consider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solving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problem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recursive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</a:t>
            </a:r>
          </a:p>
          <a:p>
            <a:pPr>
              <a:lnSpc>
                <a:spcPts val="28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call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</a:t>
            </a:r>
          </a:p>
          <a:p>
            <a:pPr marL="285750" indent="-285750">
              <a:lnSpc>
                <a:spcPts val="1000"/>
              </a:lnSpc>
              <a:buFont typeface="Arial" pitchFamily="34" charset="0"/>
              <a:buChar char="•"/>
            </a:pPr>
            <a:endParaRPr lang="en-US" altLang="zh-CN" dirty="0" smtClean="0"/>
          </a:p>
          <a:p>
            <a:pPr marL="742950" lvl="1" indent="-285750">
              <a:lnSpc>
                <a:spcPts val="2300"/>
              </a:lnSpc>
              <a:buFont typeface="Arial" pitchFamily="34" charset="0"/>
              <a:buChar char="•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simplest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problem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could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easily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solved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4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base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742950" lvl="1" indent="-285750">
              <a:lnSpc>
                <a:spcPts val="1000"/>
              </a:lnSpc>
              <a:buFont typeface="Arial" pitchFamily="34" charset="0"/>
              <a:buChar char="•"/>
            </a:pPr>
            <a:endParaRPr lang="en-US" altLang="zh-CN" dirty="0" smtClean="0"/>
          </a:p>
          <a:p>
            <a:pPr marL="742950" lvl="1" indent="-285750">
              <a:lnSpc>
                <a:spcPts val="2300"/>
              </a:lnSpc>
              <a:buFont typeface="Arial" pitchFamily="34" charset="0"/>
              <a:buChar char="•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problem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could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represented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similar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but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simpler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version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</a:p>
          <a:p>
            <a:pPr lvl="1">
              <a:lnSpc>
                <a:spcPts val="24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original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problem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4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recursive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call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 marL="342900" indent="-342900">
              <a:lnSpc>
                <a:spcPts val="2500"/>
              </a:lnSpc>
              <a:buFont typeface="Wingdings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Recursively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calculating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factorials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3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/>
              <a:t>			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long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fact(int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n)</a:t>
            </a:r>
          </a:p>
          <a:p>
            <a:pPr>
              <a:lnSpc>
                <a:spcPts val="24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/>
              <a:t>			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</a:p>
          <a:p>
            <a:pPr>
              <a:lnSpc>
                <a:spcPts val="24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/>
              <a:t>				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if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(n&lt;=1)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1;</a:t>
            </a:r>
          </a:p>
          <a:p>
            <a:pPr>
              <a:lnSpc>
                <a:spcPts val="24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/>
              <a:t>				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else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(n*fact(n-1));</a:t>
            </a:r>
          </a:p>
          <a:p>
            <a:pPr>
              <a:lnSpc>
                <a:spcPts val="24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/>
              <a:t> </a:t>
            </a:r>
            <a:r>
              <a:rPr lang="en-US" altLang="zh-CN" dirty="0" smtClean="0"/>
              <a:t>			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357393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228600" y="1571689"/>
            <a:ext cx="4343400" cy="4295711"/>
          </a:xfrm>
          <a:custGeom>
            <a:avLst/>
            <a:gdLst>
              <a:gd name="connsiteX0" fmla="*/ 0 w 4608512"/>
              <a:gd name="connsiteY0" fmla="*/ 0 h 4524311"/>
              <a:gd name="connsiteX1" fmla="*/ 4608512 w 4608512"/>
              <a:gd name="connsiteY1" fmla="*/ 0 h 4524311"/>
              <a:gd name="connsiteX2" fmla="*/ 4608512 w 4608512"/>
              <a:gd name="connsiteY2" fmla="*/ 4524311 h 4524311"/>
              <a:gd name="connsiteX3" fmla="*/ 0 w 4608512"/>
              <a:gd name="connsiteY3" fmla="*/ 4524311 h 4524311"/>
              <a:gd name="connsiteX4" fmla="*/ 0 w 4608512"/>
              <a:gd name="connsiteY4" fmla="*/ 0 h 452431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608512" h="4524311">
                <a:moveTo>
                  <a:pt x="0" y="0"/>
                </a:moveTo>
                <a:lnTo>
                  <a:pt x="4608512" y="0"/>
                </a:lnTo>
                <a:lnTo>
                  <a:pt x="4608512" y="4524311"/>
                </a:lnTo>
                <a:lnTo>
                  <a:pt x="0" y="4524311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4953000" y="1600200"/>
            <a:ext cx="4038600" cy="4267200"/>
          </a:xfrm>
          <a:custGeom>
            <a:avLst/>
            <a:gdLst>
              <a:gd name="connsiteX0" fmla="*/ 0 w 3312363"/>
              <a:gd name="connsiteY0" fmla="*/ 0 h 3312363"/>
              <a:gd name="connsiteX1" fmla="*/ 3312363 w 3312363"/>
              <a:gd name="connsiteY1" fmla="*/ 0 h 3312363"/>
              <a:gd name="connsiteX2" fmla="*/ 3312363 w 3312363"/>
              <a:gd name="connsiteY2" fmla="*/ 3312363 h 3312363"/>
              <a:gd name="connsiteX3" fmla="*/ 0 w 3312363"/>
              <a:gd name="connsiteY3" fmla="*/ 3312363 h 3312363"/>
              <a:gd name="connsiteX4" fmla="*/ 0 w 3312363"/>
              <a:gd name="connsiteY4" fmla="*/ 0 h 331236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312363" h="3312363">
                <a:moveTo>
                  <a:pt x="0" y="0"/>
                </a:moveTo>
                <a:lnTo>
                  <a:pt x="3312363" y="0"/>
                </a:lnTo>
                <a:lnTo>
                  <a:pt x="3312363" y="3312363"/>
                </a:lnTo>
                <a:lnTo>
                  <a:pt x="0" y="3312363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87349792-AC21-4E19-B33E-ECF5E46EA2FC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381000" y="1524000"/>
            <a:ext cx="4191000" cy="4332672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800"/>
              </a:lnSpc>
              <a:tabLst>
                <a:tab pos="381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#include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&lt;</a:t>
            </a:r>
            <a:r>
              <a:rPr lang="en-US" altLang="zh-CN" sz="1596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stdio.h</a:t>
            </a: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&gt;</a:t>
            </a:r>
          </a:p>
          <a:p>
            <a:pPr>
              <a:lnSpc>
                <a:spcPts val="1900"/>
              </a:lnSpc>
              <a:tabLst>
                <a:tab pos="38100" algn="l"/>
              </a:tabLst>
            </a:pPr>
            <a:r>
              <a:rPr lang="en-US" altLang="zh-CN" sz="1596" dirty="0" err="1"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latin typeface="Consolas" pitchFamily="18" charset="0"/>
                <a:cs typeface="Consolas" pitchFamily="18" charset="0"/>
              </a:rPr>
              <a:t>max(</a:t>
            </a:r>
            <a:r>
              <a:rPr lang="en-US" altLang="zh-CN" sz="1596" dirty="0" err="1"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>
                <a:latin typeface="Consolas" pitchFamily="18" charset="0"/>
                <a:cs typeface="Consolas" pitchFamily="18" charset="0"/>
              </a:rPr>
              <a:t>,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err="1"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>
                <a:latin typeface="Consolas" pitchFamily="18" charset="0"/>
                <a:cs typeface="Consolas" pitchFamily="18" charset="0"/>
              </a:rPr>
              <a:t>);</a:t>
            </a:r>
          </a:p>
          <a:p>
            <a:pPr>
              <a:lnSpc>
                <a:spcPts val="2000"/>
              </a:lnSpc>
              <a:tabLst>
                <a:tab pos="228600" algn="l"/>
                <a:tab pos="444500" algn="l"/>
              </a:tabLst>
            </a:pPr>
            <a:endParaRPr lang="en-US" altLang="zh-CN" sz="1596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000"/>
              </a:lnSpc>
              <a:tabLst>
                <a:tab pos="228600" algn="l"/>
                <a:tab pos="444500" algn="l"/>
              </a:tabLst>
            </a:pP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main(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b,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c;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(”Input three integers \n”);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scanf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(“%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d%d%d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”,&amp;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a,&amp;b,&amp;c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(“The maximum number is:”);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(“%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d”,</a:t>
            </a:r>
            <a:r>
              <a:rPr lang="en-US" altLang="zh-CN" sz="1596" dirty="0" err="1" smtClean="0">
                <a:solidFill>
                  <a:srgbClr val="0000FF"/>
                </a:solidFill>
                <a:latin typeface="Consolas" pitchFamily="18" charset="0"/>
                <a:cs typeface="Consolas" pitchFamily="18" charset="0"/>
              </a:rPr>
              <a:t>max</a:t>
            </a:r>
            <a:r>
              <a:rPr lang="en-US" altLang="zh-CN" sz="1596" dirty="0" smtClean="0">
                <a:solidFill>
                  <a:srgbClr val="0000FF"/>
                </a:solidFill>
                <a:latin typeface="Consolas" pitchFamily="18" charset="0"/>
                <a:cs typeface="Consolas" pitchFamily="18" charset="0"/>
              </a:rPr>
              <a:t>(max(</a:t>
            </a:r>
            <a:r>
              <a:rPr lang="en-US" altLang="zh-CN" sz="1596" dirty="0" err="1" smtClean="0">
                <a:solidFill>
                  <a:srgbClr val="0000FF"/>
                </a:solidFill>
                <a:latin typeface="Consolas" pitchFamily="18" charset="0"/>
                <a:cs typeface="Consolas" pitchFamily="18" charset="0"/>
              </a:rPr>
              <a:t>a,b</a:t>
            </a:r>
            <a:r>
              <a:rPr lang="en-US" altLang="zh-CN" sz="1596" dirty="0" smtClean="0">
                <a:solidFill>
                  <a:srgbClr val="0000FF"/>
                </a:solidFill>
                <a:latin typeface="Consolas" pitchFamily="18" charset="0"/>
                <a:cs typeface="Consolas" pitchFamily="18" charset="0"/>
              </a:rPr>
              <a:t>),max(</a:t>
            </a:r>
            <a:r>
              <a:rPr lang="en-US" altLang="zh-CN" sz="1596" dirty="0" err="1" smtClean="0">
                <a:solidFill>
                  <a:srgbClr val="0000FF"/>
                </a:solidFill>
                <a:latin typeface="Consolas" pitchFamily="18" charset="0"/>
                <a:cs typeface="Consolas" pitchFamily="18" charset="0"/>
              </a:rPr>
              <a:t>a,c</a:t>
            </a:r>
            <a:r>
              <a:rPr lang="en-US" altLang="zh-CN" sz="1596" dirty="0" smtClean="0">
                <a:solidFill>
                  <a:srgbClr val="0000FF"/>
                </a:solidFill>
                <a:latin typeface="Consolas" pitchFamily="18" charset="0"/>
                <a:cs typeface="Consolas" pitchFamily="18" charset="0"/>
              </a:rPr>
              <a:t>))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  <a:endParaRPr lang="en-US" altLang="zh-CN" sz="1596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0;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800"/>
              </a:lnSpc>
              <a:tabLst>
                <a:tab pos="228600" algn="l"/>
                <a:tab pos="444500" algn="l"/>
              </a:tabLst>
            </a:pP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max(int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x,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y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altLang="zh-CN" sz="1596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dirty="0" smtClean="0"/>
              <a:t>	if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(x &gt;= y) return x;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dirty="0" smtClean="0"/>
              <a:t>	else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y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;</a:t>
            </a:r>
          </a:p>
          <a:p>
            <a:pPr>
              <a:lnSpc>
                <a:spcPts val="1800"/>
              </a:lnSpc>
              <a:tabLst>
                <a:tab pos="228600" algn="l"/>
                <a:tab pos="444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4953000" y="1676400"/>
            <a:ext cx="4038600" cy="4182102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#include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&lt;stdio.h&gt;</a:t>
            </a:r>
          </a:p>
          <a:p>
            <a:pPr>
              <a:lnSpc>
                <a:spcPts val="2600"/>
              </a:lnSpc>
              <a:tabLst>
                <a:tab pos="101600" algn="l"/>
              </a:tabLst>
            </a:pPr>
            <a:r>
              <a:rPr lang="en-US" altLang="zh-CN" sz="1596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nt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main(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  <a:r>
              <a:rPr lang="en-US" altLang="zh-CN" sz="1596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a,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b,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c, max;</a:t>
            </a:r>
            <a:endParaRPr lang="en-US" altLang="zh-CN" sz="1596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sz="1600" dirty="0"/>
              <a:t>	</a:t>
            </a:r>
            <a:r>
              <a:rPr lang="en-US" altLang="zh-CN" sz="1596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(”Input three integers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\n</a:t>
            </a: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”);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</a:t>
            </a:r>
            <a:r>
              <a:rPr lang="en-US" altLang="zh-CN" sz="1596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scanf</a:t>
            </a: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(“%</a:t>
            </a:r>
            <a:r>
              <a:rPr lang="en-US" altLang="zh-CN" sz="1596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d%d%d</a:t>
            </a: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”,&amp;</a:t>
            </a:r>
            <a:r>
              <a:rPr lang="en-US" altLang="zh-CN" sz="1596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a,&amp;b,&amp;c</a:t>
            </a: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</a:t>
            </a:r>
            <a:r>
              <a:rPr lang="en-US" altLang="zh-CN" sz="1596" dirty="0" smtClean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 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sz="1596" dirty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if (a &gt; b &amp;&amp; a &gt; c)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 max = a;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else if (b &gt; c &amp;&amp; b &gt; a)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 max = b;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else 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 max = c;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sz="1596" dirty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	 </a:t>
            </a:r>
            <a:endParaRPr lang="en-US" altLang="zh-CN" sz="1596" dirty="0" smtClean="0">
              <a:solidFill>
                <a:srgbClr val="FF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sz="1596" dirty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(“The maximum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is: %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d”,max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;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sz="1596" dirty="0" smtClean="0">
                <a:solidFill>
                  <a:srgbClr val="FF0000"/>
                </a:solidFill>
                <a:latin typeface="Consolas" pitchFamily="18" charset="0"/>
                <a:cs typeface="Consolas" pitchFamily="18" charset="0"/>
              </a:rPr>
              <a:t>  </a:t>
            </a:r>
            <a:r>
              <a:rPr lang="en-US" altLang="zh-CN" sz="1596" dirty="0" smtClean="0">
                <a:latin typeface="Consolas" pitchFamily="18" charset="0"/>
                <a:cs typeface="Consolas" pitchFamily="18" charset="0"/>
              </a:rPr>
              <a:t>return 0;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2" name="Rectangle 1"/>
          <p:cNvSpPr/>
          <p:nvPr/>
        </p:nvSpPr>
        <p:spPr>
          <a:xfrm>
            <a:off x="533400" y="990600"/>
            <a:ext cx="8382000" cy="42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Find the maximum number of three integers</a:t>
            </a:r>
            <a:endParaRPr lang="en-US" altLang="zh-CN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2000" y="5943600"/>
            <a:ext cx="3733800" cy="405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With programmer-defined function</a:t>
            </a:r>
            <a:endParaRPr lang="en-US" altLang="zh-CN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57800" y="5943600"/>
            <a:ext cx="3733800" cy="405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Without programmer-defined function</a:t>
            </a:r>
            <a:endParaRPr lang="en-US" altLang="zh-CN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"/>
          <p:cNvSpPr txBox="1"/>
          <p:nvPr/>
        </p:nvSpPr>
        <p:spPr>
          <a:xfrm>
            <a:off x="228600" y="327043"/>
            <a:ext cx="7316105" cy="405239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  <a:tabLst/>
            </a:pPr>
            <a:r>
              <a:rPr lang="en-US" altLang="zh-CN" sz="2800" dirty="0" smtClean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vs. Without programmer-defined function</a:t>
            </a:r>
            <a:endParaRPr lang="en-US" altLang="zh-CN" sz="2800" dirty="0">
              <a:solidFill>
                <a:srgbClr val="0060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22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5652122" y="2309964"/>
            <a:ext cx="2951454" cy="830999"/>
          </a:xfrm>
          <a:custGeom>
            <a:avLst/>
            <a:gdLst>
              <a:gd name="connsiteX0" fmla="*/ 0 w 2951454"/>
              <a:gd name="connsiteY0" fmla="*/ 0 h 830999"/>
              <a:gd name="connsiteX1" fmla="*/ 2951454 w 2951454"/>
              <a:gd name="connsiteY1" fmla="*/ 0 h 830999"/>
              <a:gd name="connsiteX2" fmla="*/ 2951454 w 2951454"/>
              <a:gd name="connsiteY2" fmla="*/ 830999 h 830999"/>
              <a:gd name="connsiteX3" fmla="*/ 0 w 2951454"/>
              <a:gd name="connsiteY3" fmla="*/ 830999 h 830999"/>
              <a:gd name="connsiteX4" fmla="*/ 0 w 2951454"/>
              <a:gd name="connsiteY4" fmla="*/ 0 h 83099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951454" h="830999">
                <a:moveTo>
                  <a:pt x="0" y="0"/>
                </a:moveTo>
                <a:lnTo>
                  <a:pt x="2951454" y="0"/>
                </a:lnTo>
                <a:lnTo>
                  <a:pt x="2951454" y="830999"/>
                </a:lnTo>
                <a:lnTo>
                  <a:pt x="0" y="830999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2819400" y="4000869"/>
            <a:ext cx="914400" cy="1333131"/>
            <a:chOff x="2362200" y="4953000"/>
            <a:chExt cx="1180878" cy="1333131"/>
          </a:xfrm>
        </p:grpSpPr>
        <p:sp>
          <p:nvSpPr>
            <p:cNvPr id="3" name="Freeform 3"/>
            <p:cNvSpPr/>
            <p:nvPr/>
          </p:nvSpPr>
          <p:spPr>
            <a:xfrm>
              <a:off x="2362200" y="4953000"/>
              <a:ext cx="235077" cy="379095"/>
            </a:xfrm>
            <a:custGeom>
              <a:avLst/>
              <a:gdLst>
                <a:gd name="connsiteX0" fmla="*/ 9525 w 235077"/>
                <a:gd name="connsiteY0" fmla="*/ 189547 h 379095"/>
                <a:gd name="connsiteX1" fmla="*/ 117538 w 235077"/>
                <a:gd name="connsiteY1" fmla="*/ 9525 h 379095"/>
                <a:gd name="connsiteX2" fmla="*/ 225552 w 235077"/>
                <a:gd name="connsiteY2" fmla="*/ 189547 h 379095"/>
                <a:gd name="connsiteX3" fmla="*/ 117538 w 235077"/>
                <a:gd name="connsiteY3" fmla="*/ 369570 h 379095"/>
                <a:gd name="connsiteX4" fmla="*/ 9525 w 235077"/>
                <a:gd name="connsiteY4" fmla="*/ 189547 h 379095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235077" h="379095">
                  <a:moveTo>
                    <a:pt x="9525" y="189547"/>
                  </a:moveTo>
                  <a:cubicBezTo>
                    <a:pt x="9525" y="90119"/>
                    <a:pt x="57886" y="9525"/>
                    <a:pt x="117538" y="9525"/>
                  </a:cubicBezTo>
                  <a:cubicBezTo>
                    <a:pt x="177190" y="9525"/>
                    <a:pt x="225552" y="90119"/>
                    <a:pt x="225552" y="189547"/>
                  </a:cubicBezTo>
                  <a:cubicBezTo>
                    <a:pt x="225552" y="288975"/>
                    <a:pt x="177190" y="369570"/>
                    <a:pt x="117538" y="369570"/>
                  </a:cubicBezTo>
                  <a:cubicBezTo>
                    <a:pt x="57886" y="369570"/>
                    <a:pt x="9525" y="288975"/>
                    <a:pt x="9525" y="189547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Freeform 3"/>
            <p:cNvSpPr/>
            <p:nvPr/>
          </p:nvSpPr>
          <p:spPr>
            <a:xfrm>
              <a:off x="2590800" y="5105400"/>
              <a:ext cx="952278" cy="1167052"/>
            </a:xfrm>
            <a:custGeom>
              <a:avLst/>
              <a:gdLst>
                <a:gd name="connsiteX0" fmla="*/ 9525 w 952278"/>
                <a:gd name="connsiteY0" fmla="*/ 19620 h 1167052"/>
                <a:gd name="connsiteX1" fmla="*/ 930402 w 952278"/>
                <a:gd name="connsiteY1" fmla="*/ 526960 h 1167052"/>
                <a:gd name="connsiteX2" fmla="*/ 602068 w 952278"/>
                <a:gd name="connsiteY2" fmla="*/ 1157527 h 1167052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</a:cxnLst>
              <a:rect l="l" t="t" r="r" b="b"/>
              <a:pathLst>
                <a:path w="952278" h="1167052">
                  <a:moveTo>
                    <a:pt x="9525" y="19620"/>
                  </a:moveTo>
                  <a:cubicBezTo>
                    <a:pt x="439940" y="-42558"/>
                    <a:pt x="852233" y="184580"/>
                    <a:pt x="930402" y="526960"/>
                  </a:cubicBezTo>
                  <a:cubicBezTo>
                    <a:pt x="986358" y="772019"/>
                    <a:pt x="855497" y="1018030"/>
                    <a:pt x="602068" y="1157527"/>
                  </a:cubicBezTo>
                </a:path>
              </a:pathLst>
            </a:custGeom>
            <a:ln w="12700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Freeform 3"/>
            <p:cNvSpPr/>
            <p:nvPr/>
          </p:nvSpPr>
          <p:spPr>
            <a:xfrm>
              <a:off x="3124200" y="6172200"/>
              <a:ext cx="141998" cy="113931"/>
            </a:xfrm>
            <a:custGeom>
              <a:avLst/>
              <a:gdLst>
                <a:gd name="connsiteX0" fmla="*/ 68364 w 141998"/>
                <a:gd name="connsiteY0" fmla="*/ 79412 h 113931"/>
                <a:gd name="connsiteX1" fmla="*/ 141998 w 141998"/>
                <a:gd name="connsiteY1" fmla="*/ 113931 h 113931"/>
                <a:gd name="connsiteX2" fmla="*/ 0 w 141998"/>
                <a:gd name="connsiteY2" fmla="*/ 113080 h 113931"/>
                <a:gd name="connsiteX3" fmla="*/ 85877 w 141998"/>
                <a:gd name="connsiteY3" fmla="*/ 0 h 113931"/>
                <a:gd name="connsiteX4" fmla="*/ 68364 w 141998"/>
                <a:gd name="connsiteY4" fmla="*/ 79412 h 11393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141998" h="113931">
                  <a:moveTo>
                    <a:pt x="68364" y="79412"/>
                  </a:moveTo>
                  <a:lnTo>
                    <a:pt x="141998" y="113931"/>
                  </a:lnTo>
                  <a:lnTo>
                    <a:pt x="0" y="113080"/>
                  </a:lnTo>
                  <a:lnTo>
                    <a:pt x="85877" y="0"/>
                  </a:lnTo>
                  <a:lnTo>
                    <a:pt x="68364" y="79412"/>
                  </a:lnTo>
                </a:path>
              </a:pathLst>
            </a:custGeom>
            <a:solidFill>
              <a:srgbClr val="FF000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7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EC123082-4BC6-4259-9493-4693FC5EE50C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13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673100" y="520700"/>
            <a:ext cx="7707238" cy="1726729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500"/>
              </a:lnSpc>
              <a:tabLst/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parameter(s) to the function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100"/>
              </a:lnSpc>
              <a:tabLst/>
            </a:pP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Suppose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hope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pi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returns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integer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multiple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π</a:t>
            </a:r>
          </a:p>
          <a:p>
            <a:pPr>
              <a:lnSpc>
                <a:spcPts val="2100"/>
              </a:lnSpc>
              <a:tabLst/>
            </a:pP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(e.g.,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2π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),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multiplier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could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specified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follows: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400"/>
              </a:lnSpc>
              <a:tabLst/>
            </a:pPr>
            <a:r>
              <a:rPr lang="en-US" altLang="zh-CN" sz="2004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402494" y="2286000"/>
            <a:ext cx="6750906" cy="447045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600"/>
              </a:lnSpc>
              <a:tabLst>
                <a:tab pos="254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#include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&lt;stdio.h&gt;</a:t>
            </a:r>
          </a:p>
          <a:p>
            <a:pPr>
              <a:lnSpc>
                <a:spcPts val="2100"/>
              </a:lnSpc>
              <a:tabLst>
                <a:tab pos="25400" algn="l"/>
              </a:tabLst>
            </a:pP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float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pi(int);</a:t>
            </a:r>
          </a:p>
          <a:p>
            <a:pPr>
              <a:lnSpc>
                <a:spcPts val="2100"/>
              </a:lnSpc>
              <a:tabLst>
                <a:tab pos="25400" algn="l"/>
              </a:tabLst>
            </a:pPr>
            <a:endParaRPr lang="en-US" altLang="zh-CN" sz="2004" dirty="0" smtClean="0">
              <a:solidFill>
                <a:srgbClr val="0070C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100"/>
              </a:lnSpc>
              <a:tabLst>
                <a:tab pos="25400" algn="l"/>
              </a:tabLst>
            </a:pPr>
            <a:r>
              <a:rPr lang="en-US" altLang="zh-CN" sz="2004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main(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</a:p>
          <a:p>
            <a:pPr>
              <a:lnSpc>
                <a:spcPts val="2100"/>
              </a:lnSpc>
              <a:tabLst>
                <a:tab pos="25400" algn="l"/>
              </a:tabLst>
            </a:pP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</a:p>
          <a:p>
            <a:pPr lvl="1">
              <a:lnSpc>
                <a:spcPts val="2600"/>
              </a:lnSpc>
            </a:pP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float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p;</a:t>
            </a:r>
          </a:p>
          <a:p>
            <a:pPr lvl="1">
              <a:lnSpc>
                <a:spcPts val="2400"/>
              </a:lnSpc>
            </a:pP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=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pi(2);</a:t>
            </a:r>
          </a:p>
          <a:p>
            <a:pPr lvl="1">
              <a:lnSpc>
                <a:spcPts val="2400"/>
              </a:lnSpc>
            </a:pPr>
            <a:r>
              <a:rPr lang="en-US" altLang="zh-CN" sz="2004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(“The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value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two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pi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%f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\n”,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 lvl="1">
              <a:lnSpc>
                <a:spcPts val="2400"/>
              </a:lnSpc>
            </a:pP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 0;</a:t>
            </a:r>
            <a:endParaRPr lang="en-US" altLang="zh-CN" sz="2004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100"/>
              </a:lnSpc>
              <a:tabLst>
                <a:tab pos="25400" algn="l"/>
              </a:tabLst>
            </a:pP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  <a:p>
            <a:pPr>
              <a:lnSpc>
                <a:spcPts val="2900"/>
              </a:lnSpc>
              <a:tabLst>
                <a:tab pos="63500" algn="l"/>
              </a:tabLst>
            </a:pP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float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pi(</a:t>
            </a:r>
            <a:r>
              <a:rPr lang="en-US" altLang="zh-CN" sz="2004" dirty="0" err="1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n)</a:t>
            </a:r>
          </a:p>
          <a:p>
            <a:pPr>
              <a:lnSpc>
                <a:spcPts val="2900"/>
              </a:lnSpc>
              <a:tabLst>
                <a:tab pos="63500" algn="l"/>
              </a:tabLst>
            </a:pP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{</a:t>
            </a:r>
          </a:p>
          <a:p>
            <a:pPr>
              <a:lnSpc>
                <a:spcPts val="2900"/>
              </a:lnSpc>
              <a:tabLst>
                <a:tab pos="63500" algn="l"/>
              </a:tabLst>
            </a:pP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	   return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3.141593*n</a:t>
            </a:r>
            <a:r>
              <a:rPr lang="en-US" altLang="zh-CN" sz="2004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ts val="2900"/>
              </a:lnSpc>
              <a:tabLst>
                <a:tab pos="63500" algn="l"/>
              </a:tabLst>
            </a:pPr>
            <a:r>
              <a:rPr lang="en-US" altLang="zh-CN" sz="2004" dirty="0" smtClean="0">
                <a:solidFill>
                  <a:srgbClr val="0070C0"/>
                </a:solidFill>
                <a:latin typeface="Consolas" pitchFamily="18" charset="0"/>
                <a:cs typeface="Consolas" pitchFamily="18" charset="0"/>
              </a:rPr>
              <a:t>}</a:t>
            </a:r>
            <a:endParaRPr lang="en-US" altLang="zh-CN" sz="2004" dirty="0">
              <a:solidFill>
                <a:srgbClr val="0070C0"/>
              </a:solidFill>
              <a:latin typeface="Consolas" pitchFamily="18" charset="0"/>
              <a:cs typeface="Consolas" pitchFamily="18" charset="0"/>
            </a:endParaRPr>
          </a:p>
        </p:txBody>
      </p:sp>
      <p:sp>
        <p:nvSpPr>
          <p:cNvPr id="15" name="TextBox 1"/>
          <p:cNvSpPr txBox="1"/>
          <p:nvPr/>
        </p:nvSpPr>
        <p:spPr>
          <a:xfrm>
            <a:off x="5740400" y="2463800"/>
            <a:ext cx="2730500" cy="635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100"/>
              </a:lnSpc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two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pPr>
              <a:lnSpc>
                <a:spcPts val="2800"/>
              </a:lnSpc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6.283186</a:t>
            </a:r>
          </a:p>
        </p:txBody>
      </p:sp>
    </p:spTree>
    <p:extLst>
      <p:ext uri="{BB962C8B-B14F-4D97-AF65-F5344CB8AC3E}">
        <p14:creationId xmlns:p14="http://schemas.microsoft.com/office/powerpoint/2010/main" val="361267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6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B16EF17F-4EF6-4DDA-A99C-3165FEA9E522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14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>
                <a:solidFill>
                  <a:srgbClr val="0060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Local Variables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AU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Local variables </a:t>
            </a: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are defined within a function, thus include the formal parameters and any other variables declared in the function.  In the example result, a, b inside the main function are local variables</a:t>
            </a:r>
          </a:p>
          <a:p>
            <a:pPr algn="l">
              <a:buFont typeface="Wingdings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Local variables </a:t>
            </a: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can be accessed only in the function that defines them. </a:t>
            </a:r>
          </a:p>
          <a:p>
            <a:pPr algn="l">
              <a:buFont typeface="Wingdings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local variable </a:t>
            </a: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has a value when its function is being executed, but its value is not retained when the function is completed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 lang="en-US" altLang="zh-CN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359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6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B16EF17F-4EF6-4DDA-A99C-3165FEA9E522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15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>
                <a:solidFill>
                  <a:srgbClr val="0060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Global Variables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AU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b="1" dirty="0" smtClean="0">
                <a:solidFill>
                  <a:srgbClr val="1E63BD"/>
                </a:solidFill>
                <a:latin typeface="Times New Roman" pitchFamily="18" charset="0"/>
                <a:cs typeface="Times New Roman" pitchFamily="18" charset="0"/>
              </a:rPr>
              <a:t>Global variables </a:t>
            </a:r>
            <a:r>
              <a:rPr lang="en-US" altLang="zh-CN" dirty="0" smtClean="0">
                <a:solidFill>
                  <a:srgbClr val="1E63BD"/>
                </a:solidFill>
                <a:latin typeface="Times New Roman" pitchFamily="18" charset="0"/>
                <a:cs typeface="Times New Roman" pitchFamily="18" charset="0"/>
              </a:rPr>
              <a:t>are defined </a:t>
            </a:r>
            <a:r>
              <a:rPr lang="en-US" altLang="zh-CN" b="1" dirty="0" smtClean="0">
                <a:solidFill>
                  <a:srgbClr val="1E63BD"/>
                </a:solidFill>
                <a:latin typeface="Times New Roman" pitchFamily="18" charset="0"/>
                <a:cs typeface="Times New Roman" pitchFamily="18" charset="0"/>
              </a:rPr>
              <a:t>outside</a:t>
            </a:r>
            <a:r>
              <a:rPr lang="en-US" altLang="zh-CN" dirty="0" smtClean="0">
                <a:solidFill>
                  <a:srgbClr val="1E63BD"/>
                </a:solidFill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altLang="zh-CN" dirty="0" smtClean="0">
                <a:solidFill>
                  <a:srgbClr val="1E63BD"/>
                </a:solidFill>
                <a:latin typeface="Consolas"/>
                <a:cs typeface="Consolas"/>
              </a:rPr>
              <a:t>main</a:t>
            </a:r>
            <a:r>
              <a:rPr lang="en-US" altLang="zh-CN" dirty="0" smtClean="0">
                <a:solidFill>
                  <a:srgbClr val="1E63BD"/>
                </a:solidFill>
                <a:latin typeface="Times New Roman" pitchFamily="18" charset="0"/>
                <a:cs typeface="Times New Roman" pitchFamily="18" charset="0"/>
              </a:rPr>
              <a:t> function or other programmer-defined functions. In example </a:t>
            </a:r>
            <a:r>
              <a:rPr lang="en-US" altLang="zh-CN" dirty="0" smtClean="0">
                <a:solidFill>
                  <a:srgbClr val="1E63BD"/>
                </a:solidFill>
                <a:latin typeface="Consolas"/>
                <a:cs typeface="Consolas"/>
              </a:rPr>
              <a:t>a, b </a:t>
            </a:r>
            <a:r>
              <a:rPr lang="en-US" altLang="zh-CN" dirty="0" smtClean="0">
                <a:solidFill>
                  <a:srgbClr val="1E63BD"/>
                </a:solidFill>
                <a:latin typeface="Times New Roman" pitchFamily="18" charset="0"/>
                <a:cs typeface="Times New Roman" pitchFamily="18" charset="0"/>
              </a:rPr>
              <a:t>are global variables.</a:t>
            </a:r>
            <a:endParaRPr lang="en-US" altLang="zh-CN" dirty="0" smtClean="0">
              <a:solidFill>
                <a:srgbClr val="1E63BD"/>
              </a:solidFill>
            </a:endParaRPr>
          </a:p>
          <a:p>
            <a:pPr algn="l">
              <a:buFont typeface="Wingdings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b="1" dirty="0" smtClean="0">
                <a:solidFill>
                  <a:srgbClr val="1E63BD"/>
                </a:solidFill>
                <a:latin typeface="Times New Roman" pitchFamily="18" charset="0"/>
                <a:cs typeface="Times New Roman" pitchFamily="18" charset="0"/>
              </a:rPr>
              <a:t>Global variables </a:t>
            </a:r>
            <a:r>
              <a:rPr lang="en-US" altLang="zh-CN" dirty="0" smtClean="0">
                <a:solidFill>
                  <a:srgbClr val="1E63BD"/>
                </a:solidFill>
                <a:latin typeface="Times New Roman" pitchFamily="18" charset="0"/>
                <a:cs typeface="Times New Roman" pitchFamily="18" charset="0"/>
              </a:rPr>
              <a:t>can be accessed by any function within the program. </a:t>
            </a:r>
            <a:endParaRPr lang="en-US" altLang="zh-CN" dirty="0">
              <a:solidFill>
                <a:srgbClr val="1E63BD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76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828800" y="1059325"/>
            <a:ext cx="4343400" cy="4295711"/>
          </a:xfrm>
          <a:custGeom>
            <a:avLst/>
            <a:gdLst>
              <a:gd name="connsiteX0" fmla="*/ 0 w 4608512"/>
              <a:gd name="connsiteY0" fmla="*/ 0 h 4524311"/>
              <a:gd name="connsiteX1" fmla="*/ 4608512 w 4608512"/>
              <a:gd name="connsiteY1" fmla="*/ 0 h 4524311"/>
              <a:gd name="connsiteX2" fmla="*/ 4608512 w 4608512"/>
              <a:gd name="connsiteY2" fmla="*/ 4524311 h 4524311"/>
              <a:gd name="connsiteX3" fmla="*/ 0 w 4608512"/>
              <a:gd name="connsiteY3" fmla="*/ 4524311 h 4524311"/>
              <a:gd name="connsiteX4" fmla="*/ 0 w 4608512"/>
              <a:gd name="connsiteY4" fmla="*/ 0 h 452431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608512" h="4524311">
                <a:moveTo>
                  <a:pt x="0" y="0"/>
                </a:moveTo>
                <a:lnTo>
                  <a:pt x="4608512" y="0"/>
                </a:lnTo>
                <a:lnTo>
                  <a:pt x="4608512" y="4524311"/>
                </a:lnTo>
                <a:lnTo>
                  <a:pt x="0" y="4524311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#include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stdio.h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&gt;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//Global 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variables</a:t>
            </a:r>
            <a:endParaRPr lang="en-US" altLang="zh-CN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a;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b;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endParaRPr lang="en-US" altLang="zh-CN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add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();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 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	 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return 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a+b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;</a:t>
            </a:r>
          </a:p>
          <a:p>
            <a:pPr>
              <a:lnSpc>
                <a:spcPts val="2000"/>
              </a:lnSpc>
              <a:tabLst>
                <a:tab pos="101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  <a:p>
            <a:pPr>
              <a:lnSpc>
                <a:spcPts val="2600"/>
              </a:lnSpc>
              <a:tabLst>
                <a:tab pos="10160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main(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Times New Roman" pitchFamily="18" charset="0"/>
              </a:rPr>
              <a:t>result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; //Local variables</a:t>
            </a:r>
            <a:endParaRPr lang="en-US" altLang="zh-CN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dirty="0"/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a = 5, b = 7;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	result = add();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(“%d\n”, result);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		return 0;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87349792-AC21-4E19-B33E-ECF5E46EA2FC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16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14" name="TextBox 1"/>
          <p:cNvSpPr txBox="1"/>
          <p:nvPr/>
        </p:nvSpPr>
        <p:spPr>
          <a:xfrm>
            <a:off x="228600" y="327043"/>
            <a:ext cx="5782032" cy="405239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  <a:tabLst/>
            </a:pPr>
            <a:r>
              <a:rPr lang="en-US" altLang="zh-CN" sz="2800" dirty="0" smtClean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variables and Local variables</a:t>
            </a:r>
            <a:endParaRPr lang="en-US" altLang="zh-CN" sz="2800" dirty="0">
              <a:solidFill>
                <a:srgbClr val="0060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07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0500" y="6502400"/>
            <a:ext cx="2413000" cy="177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Symbol" pitchFamily="18" charset="0"/>
                <a:cs typeface="Symbol" pitchFamily="18" charset="0"/>
              </a:rPr>
              <a:t>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3" name="TextBox 1"/>
          <p:cNvSpPr txBox="1"/>
          <p:nvPr/>
        </p:nvSpPr>
        <p:spPr>
          <a:xfrm>
            <a:off x="393700" y="457200"/>
            <a:ext cx="6129883" cy="1007968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200"/>
              </a:lnSpc>
              <a:tabLst>
                <a:tab pos="711200" algn="l"/>
              </a:tabLst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Calling functions by value and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300"/>
              </a:lnSpc>
              <a:tabLst>
                <a:tab pos="711200" algn="l"/>
              </a:tabLst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reference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762000" y="1752600"/>
            <a:ext cx="7989367" cy="393302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marL="457200" indent="-457200" algn="just">
              <a:lnSpc>
                <a:spcPts val="2500"/>
              </a:lnSpc>
              <a:buFont typeface="Wingdings" charset="2"/>
              <a:buChar char="§"/>
              <a:tabLst/>
            </a:pPr>
            <a:r>
              <a:rPr lang="en-US" altLang="zh-CN" sz="2796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formal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holds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copy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</a:p>
          <a:p>
            <a:pPr algn="just">
              <a:lnSpc>
                <a:spcPts val="33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actual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parameter.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Therefore,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changes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formal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ts val="33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done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copy, not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ts val="33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actual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parameter.</a:t>
            </a:r>
          </a:p>
          <a:p>
            <a:pPr algn="just">
              <a:lnSpc>
                <a:spcPts val="1000"/>
              </a:lnSpc>
            </a:pPr>
            <a:endParaRPr lang="en-US" altLang="zh-CN" dirty="0" smtClean="0"/>
          </a:p>
          <a:p>
            <a:pPr algn="just">
              <a:lnSpc>
                <a:spcPts val="1000"/>
              </a:lnSpc>
            </a:pPr>
            <a:endParaRPr lang="en-US" altLang="zh-CN" dirty="0" smtClean="0"/>
          </a:p>
          <a:p>
            <a:pPr marL="457200" indent="-457200" algn="just">
              <a:lnSpc>
                <a:spcPts val="2700"/>
              </a:lnSpc>
              <a:buFont typeface="Wingdings" charset="2"/>
              <a:buChar char="§"/>
              <a:tabLst/>
            </a:pPr>
            <a:r>
              <a:rPr lang="en-US" altLang="zh-CN" sz="2796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formal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holds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</a:p>
          <a:p>
            <a:pPr algn="just">
              <a:lnSpc>
                <a:spcPts val="33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address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actual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parameter,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i.e.,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formal</a:t>
            </a:r>
          </a:p>
          <a:p>
            <a:pPr algn="just">
              <a:lnSpc>
                <a:spcPts val="33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pointer.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Therefore,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changes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</a:p>
          <a:p>
            <a:pPr algn="just">
              <a:lnSpc>
                <a:spcPts val="33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pointed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formal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changes</a:t>
            </a:r>
          </a:p>
          <a:p>
            <a:pPr algn="just">
              <a:lnSpc>
                <a:spcPts val="33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actual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instantly.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8686800" y="6477000"/>
            <a:ext cx="180049" cy="21041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E46D3542-FBC7-DD4C-8DCE-C1541895028F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17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1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5724398" y="838200"/>
            <a:ext cx="3240087" cy="4267200"/>
          </a:xfrm>
          <a:custGeom>
            <a:avLst/>
            <a:gdLst>
              <a:gd name="connsiteX0" fmla="*/ 0 w 3240087"/>
              <a:gd name="connsiteY0" fmla="*/ 0 h 4031869"/>
              <a:gd name="connsiteX1" fmla="*/ 3240087 w 3240087"/>
              <a:gd name="connsiteY1" fmla="*/ 0 h 4031869"/>
              <a:gd name="connsiteX2" fmla="*/ 3240087 w 3240087"/>
              <a:gd name="connsiteY2" fmla="*/ 4031869 h 4031869"/>
              <a:gd name="connsiteX3" fmla="*/ 0 w 3240087"/>
              <a:gd name="connsiteY3" fmla="*/ 4031869 h 4031869"/>
              <a:gd name="connsiteX4" fmla="*/ 0 w 3240087"/>
              <a:gd name="connsiteY4" fmla="*/ 0 h 403186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240087" h="4031869">
                <a:moveTo>
                  <a:pt x="0" y="0"/>
                </a:moveTo>
                <a:lnTo>
                  <a:pt x="3240087" y="0"/>
                </a:lnTo>
                <a:lnTo>
                  <a:pt x="3240087" y="4031869"/>
                </a:lnTo>
                <a:lnTo>
                  <a:pt x="0" y="4031869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990600" y="2995613"/>
            <a:ext cx="2820987" cy="661987"/>
          </a:xfrm>
          <a:custGeom>
            <a:avLst/>
            <a:gdLst>
              <a:gd name="connsiteX0" fmla="*/ 6350 w 2820987"/>
              <a:gd name="connsiteY0" fmla="*/ 6350 h 661987"/>
              <a:gd name="connsiteX1" fmla="*/ 2814637 w 2820987"/>
              <a:gd name="connsiteY1" fmla="*/ 6350 h 661987"/>
              <a:gd name="connsiteX2" fmla="*/ 2814637 w 2820987"/>
              <a:gd name="connsiteY2" fmla="*/ 655637 h 661987"/>
              <a:gd name="connsiteX3" fmla="*/ 6350 w 2820987"/>
              <a:gd name="connsiteY3" fmla="*/ 655637 h 661987"/>
              <a:gd name="connsiteX4" fmla="*/ 6350 w 2820987"/>
              <a:gd name="connsiteY4" fmla="*/ 6350 h 66198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820987" h="661987">
                <a:moveTo>
                  <a:pt x="6350" y="6350"/>
                </a:moveTo>
                <a:lnTo>
                  <a:pt x="2814637" y="6350"/>
                </a:lnTo>
                <a:lnTo>
                  <a:pt x="2814637" y="655637"/>
                </a:lnTo>
                <a:lnTo>
                  <a:pt x="6350" y="655637"/>
                </a:lnTo>
                <a:lnTo>
                  <a:pt x="6350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4051268" y="834775"/>
            <a:ext cx="673100" cy="485775"/>
          </a:xfrm>
          <a:custGeom>
            <a:avLst/>
            <a:gdLst>
              <a:gd name="connsiteX0" fmla="*/ 12700 w 673100"/>
              <a:gd name="connsiteY0" fmla="*/ 12700 h 485775"/>
              <a:gd name="connsiteX1" fmla="*/ 660400 w 673100"/>
              <a:gd name="connsiteY1" fmla="*/ 12700 h 485775"/>
              <a:gd name="connsiteX2" fmla="*/ 660400 w 673100"/>
              <a:gd name="connsiteY2" fmla="*/ 473075 h 485775"/>
              <a:gd name="connsiteX3" fmla="*/ 12700 w 673100"/>
              <a:gd name="connsiteY3" fmla="*/ 473075 h 485775"/>
              <a:gd name="connsiteX4" fmla="*/ 12700 w 673100"/>
              <a:gd name="connsiteY4" fmla="*/ 12700 h 48577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73100" h="485775">
                <a:moveTo>
                  <a:pt x="12700" y="12700"/>
                </a:moveTo>
                <a:lnTo>
                  <a:pt x="660400" y="12700"/>
                </a:lnTo>
                <a:lnTo>
                  <a:pt x="660400" y="473075"/>
                </a:lnTo>
                <a:lnTo>
                  <a:pt x="12700" y="473075"/>
                </a:lnTo>
                <a:lnTo>
                  <a:pt x="12700" y="12700"/>
                </a:lnTo>
              </a:path>
            </a:pathLst>
          </a:custGeom>
          <a:solidFill>
            <a:srgbClr val="FFFFFF">
              <a:alpha val="100000"/>
            </a:srgbClr>
          </a:solidFill>
          <a:ln w="25400">
            <a:solidFill>
              <a:srgbClr val="0070C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6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1FFA7BDA-0FA3-42E6-80F8-0998A941FFD7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18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190500" y="336639"/>
            <a:ext cx="7620459" cy="366767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Parameter pass by value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523000" y="1239435"/>
            <a:ext cx="8229600" cy="472693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100"/>
              </a:lnSpc>
              <a:tabLst>
                <a:tab pos="266700" algn="l"/>
                <a:tab pos="406400" algn="l"/>
                <a:tab pos="546100" algn="l"/>
                <a:tab pos="825500" algn="l"/>
              </a:tabLst>
            </a:pPr>
            <a:r>
              <a:rPr lang="en-US" altLang="zh-CN" sz="2004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power(int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x,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n)</a:t>
            </a:r>
          </a:p>
          <a:p>
            <a:pPr>
              <a:lnSpc>
                <a:spcPts val="3300"/>
              </a:lnSpc>
              <a:tabLst>
                <a:tab pos="266700" algn="l"/>
                <a:tab pos="406400" algn="l"/>
                <a:tab pos="546100" algn="l"/>
                <a:tab pos="8255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</a:p>
          <a:p>
            <a:pPr>
              <a:lnSpc>
                <a:spcPts val="2700"/>
              </a:lnSpc>
              <a:tabLst>
                <a:tab pos="266700" algn="l"/>
                <a:tab pos="406400" algn="l"/>
                <a:tab pos="546100" algn="l"/>
                <a:tab pos="825500" algn="l"/>
              </a:tabLst>
            </a:pPr>
            <a:r>
              <a:rPr lang="en-US" altLang="zh-CN" dirty="0" smtClean="0"/>
              <a:t>			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p;</a:t>
            </a:r>
          </a:p>
          <a:p>
            <a:pPr>
              <a:lnSpc>
                <a:spcPts val="2600"/>
              </a:lnSpc>
              <a:tabLst>
                <a:tab pos="266700" algn="l"/>
                <a:tab pos="406400" algn="l"/>
                <a:tab pos="546100" algn="l"/>
                <a:tab pos="825500" algn="l"/>
              </a:tabLst>
            </a:pPr>
            <a:r>
              <a:rPr lang="en-US" altLang="zh-CN" dirty="0" smtClean="0"/>
              <a:t>			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for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(p=1;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n&gt;0;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n--)</a:t>
            </a:r>
          </a:p>
          <a:p>
            <a:pPr>
              <a:lnSpc>
                <a:spcPts val="2600"/>
              </a:lnSpc>
              <a:tabLst>
                <a:tab pos="266700" algn="l"/>
                <a:tab pos="406400" algn="l"/>
                <a:tab pos="546100" algn="l"/>
                <a:tab pos="825500" algn="l"/>
              </a:tabLst>
            </a:pPr>
            <a:r>
              <a:rPr lang="en-US" altLang="zh-CN" dirty="0" smtClean="0"/>
              <a:t>				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=p*x;</a:t>
            </a:r>
          </a:p>
          <a:p>
            <a:pPr>
              <a:lnSpc>
                <a:spcPts val="2600"/>
              </a:lnSpc>
              <a:tabLst>
                <a:tab pos="266700" algn="l"/>
                <a:tab pos="406400" algn="l"/>
                <a:tab pos="546100" algn="l"/>
                <a:tab pos="825500" algn="l"/>
              </a:tabLst>
            </a:pPr>
            <a:r>
              <a:rPr lang="en-US" altLang="zh-CN" dirty="0" smtClean="0"/>
              <a:t>			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p;</a:t>
            </a:r>
          </a:p>
          <a:p>
            <a:pPr>
              <a:lnSpc>
                <a:spcPts val="2600"/>
              </a:lnSpc>
              <a:tabLst>
                <a:tab pos="266700" algn="l"/>
                <a:tab pos="406400" algn="l"/>
                <a:tab pos="546100" algn="l"/>
                <a:tab pos="825500" algn="l"/>
              </a:tabLst>
            </a:pPr>
            <a:r>
              <a:rPr lang="en-US" altLang="zh-CN" dirty="0" smtClean="0"/>
              <a:t>		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 marL="342900" indent="-342900">
              <a:lnSpc>
                <a:spcPts val="2800"/>
              </a:lnSpc>
              <a:buFont typeface="Wingdings" charset="2"/>
              <a:buChar char="§"/>
              <a:tabLst>
                <a:tab pos="266700" algn="l"/>
                <a:tab pos="406400" algn="l"/>
                <a:tab pos="546100" algn="l"/>
                <a:tab pos="825500" algn="l"/>
              </a:tabLst>
            </a:pP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altered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within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function.</a:t>
            </a:r>
          </a:p>
          <a:p>
            <a:pPr>
              <a:lnSpc>
                <a:spcPts val="2600"/>
              </a:lnSpc>
              <a:tabLst/>
            </a:pP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but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does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change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b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 program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lnSpc>
                <a:spcPts val="2600"/>
              </a:lnSpc>
              <a:buFont typeface="Wingdings" charset="2"/>
              <a:buChar char="§"/>
              <a:tabLst/>
            </a:pP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Such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passing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method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called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altLang="zh-CN" sz="2004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pass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altLang="zh-CN" sz="200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en-US" altLang="zh-CN" sz="2004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004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5803900" y="917074"/>
            <a:ext cx="2997615" cy="4188326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#include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&lt;stdio.h&gt;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power(int,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nt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main(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b,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c;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a=2;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b=8;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c=power(a,b);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printf("The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value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c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	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%3d",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c);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return 0;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power(int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x,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n)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for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(p=1;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n&gt;0;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n--)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p=p*x;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p;</a:t>
            </a:r>
          </a:p>
          <a:p>
            <a:pPr>
              <a:lnSpc>
                <a:spcPts val="18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13" name="TextBox 1"/>
          <p:cNvSpPr txBox="1"/>
          <p:nvPr/>
        </p:nvSpPr>
        <p:spPr>
          <a:xfrm>
            <a:off x="4139103" y="1014681"/>
            <a:ext cx="444500" cy="266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100"/>
              </a:lnSpc>
              <a:tabLst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2^8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190926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3" name="TextBox 1"/>
          <p:cNvSpPr txBox="1"/>
          <p:nvPr/>
        </p:nvSpPr>
        <p:spPr>
          <a:xfrm>
            <a:off x="660400" y="381000"/>
            <a:ext cx="3000821" cy="42056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  <a:tabLst/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 List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B16EF17F-4EF6-4DDA-A99C-3165FEA9E522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19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414701" y="1715263"/>
            <a:ext cx="4535526" cy="3585597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marL="342900" indent="-342900">
              <a:buFont typeface="Wingdings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parameters </a:t>
            </a:r>
            <a:r>
              <a:rPr lang="en-US" altLang="zh-CN" dirty="0" smtClean="0">
                <a:solidFill>
                  <a:srgbClr val="000000"/>
                </a:solidFill>
                <a:latin typeface="Consolas"/>
                <a:cs typeface="Consolas"/>
              </a:rPr>
              <a:t>n, x </a:t>
            </a: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required by the function are called </a:t>
            </a:r>
          </a:p>
          <a:p>
            <a:pPr>
              <a:spcAft>
                <a:spcPts val="600"/>
              </a:spcAft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formal parameters, while </a:t>
            </a:r>
            <a:r>
              <a:rPr lang="en-US" altLang="zh-CN" dirty="0" smtClean="0">
                <a:solidFill>
                  <a:srgbClr val="000000"/>
                </a:solidFill>
                <a:latin typeface="Consolas"/>
                <a:cs typeface="Consolas"/>
              </a:rPr>
              <a:t>a, b </a:t>
            </a: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are actual parameters.</a:t>
            </a:r>
            <a:endParaRPr lang="en-US" altLang="zh-CN" dirty="0" smtClean="0"/>
          </a:p>
          <a:p>
            <a:pPr marL="342900" indent="-342900">
              <a:buFont typeface="Wingdings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formal parameters and actual parameters 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must match  number, type, and order.</a:t>
            </a:r>
          </a:p>
          <a:p>
            <a:pPr marL="342900" indent="-342900">
              <a:buFont typeface="Wingdings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 the function call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power(</a:t>
            </a:r>
            <a:r>
              <a:rPr lang="en-US" altLang="zh-CN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a,b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),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  <a:cs typeface="Times New Roman"/>
              </a:rPr>
              <a:t> the values in actual  parameters are copied to the formal parameters, thus the values of actual parameters 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are not altered by the function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  <a:p>
            <a:pPr>
              <a:lnSpc>
                <a:spcPts val="30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24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/>
              <a:t>			</a:t>
            </a:r>
            <a:endParaRPr lang="en-US" altLang="zh-CN" sz="2004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11" name="Freeform 10"/>
          <p:cNvSpPr/>
          <p:nvPr/>
        </p:nvSpPr>
        <p:spPr>
          <a:xfrm>
            <a:off x="5053013" y="1490913"/>
            <a:ext cx="3240087" cy="4267200"/>
          </a:xfrm>
          <a:custGeom>
            <a:avLst/>
            <a:gdLst>
              <a:gd name="connsiteX0" fmla="*/ 0 w 3240087"/>
              <a:gd name="connsiteY0" fmla="*/ 0 h 4031869"/>
              <a:gd name="connsiteX1" fmla="*/ 3240087 w 3240087"/>
              <a:gd name="connsiteY1" fmla="*/ 0 h 4031869"/>
              <a:gd name="connsiteX2" fmla="*/ 3240087 w 3240087"/>
              <a:gd name="connsiteY2" fmla="*/ 4031869 h 4031869"/>
              <a:gd name="connsiteX3" fmla="*/ 0 w 3240087"/>
              <a:gd name="connsiteY3" fmla="*/ 4031869 h 4031869"/>
              <a:gd name="connsiteX4" fmla="*/ 0 w 3240087"/>
              <a:gd name="connsiteY4" fmla="*/ 0 h 403186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240087" h="4031869">
                <a:moveTo>
                  <a:pt x="0" y="0"/>
                </a:moveTo>
                <a:lnTo>
                  <a:pt x="3240087" y="0"/>
                </a:lnTo>
                <a:lnTo>
                  <a:pt x="3240087" y="4031869"/>
                </a:lnTo>
                <a:lnTo>
                  <a:pt x="0" y="4031869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"/>
          <p:cNvSpPr txBox="1"/>
          <p:nvPr/>
        </p:nvSpPr>
        <p:spPr>
          <a:xfrm>
            <a:off x="5235198" y="1569787"/>
            <a:ext cx="2997615" cy="4188326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#include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&lt;stdio.h&gt;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power(int,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</a:t>
            </a:r>
            <a:r>
              <a:rPr lang="en-US" altLang="zh-CN" sz="1596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nt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main(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b,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c;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a=2;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b=8;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c=power(a,b);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printf("The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value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c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	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%3d",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c);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return 0;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power(int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x,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n)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for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(p=1;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n&gt;0;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n--)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p=p*x;</a:t>
            </a:r>
          </a:p>
          <a:p>
            <a:pPr>
              <a:lnSpc>
                <a:spcPts val="19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dirty="0" smtClean="0"/>
              <a:t>	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</a:t>
            </a:r>
            <a:r>
              <a:rPr lang="en-US" altLang="zh-CN" sz="1596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p;</a:t>
            </a:r>
          </a:p>
          <a:p>
            <a:pPr>
              <a:lnSpc>
                <a:spcPts val="1800"/>
              </a:lnSpc>
              <a:tabLst>
                <a:tab pos="228600" algn="l"/>
                <a:tab pos="444500" algn="l"/>
                <a:tab pos="1079500" algn="l"/>
              </a:tabLst>
            </a:pPr>
            <a:r>
              <a:rPr lang="en-US" altLang="zh-CN" sz="15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1103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043609" y="1487678"/>
            <a:ext cx="7344816" cy="4893653"/>
          </a:xfrm>
          <a:custGeom>
            <a:avLst/>
            <a:gdLst>
              <a:gd name="connsiteX0" fmla="*/ 0 w 7344816"/>
              <a:gd name="connsiteY0" fmla="*/ 0 h 4893653"/>
              <a:gd name="connsiteX1" fmla="*/ 7344816 w 7344816"/>
              <a:gd name="connsiteY1" fmla="*/ 0 h 4893653"/>
              <a:gd name="connsiteX2" fmla="*/ 7344816 w 7344816"/>
              <a:gd name="connsiteY2" fmla="*/ 4893653 h 4893653"/>
              <a:gd name="connsiteX3" fmla="*/ 0 w 7344816"/>
              <a:gd name="connsiteY3" fmla="*/ 4893653 h 4893653"/>
              <a:gd name="connsiteX4" fmla="*/ 0 w 7344816"/>
              <a:gd name="connsiteY4" fmla="*/ 0 h 489365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44816" h="4893653">
                <a:moveTo>
                  <a:pt x="0" y="0"/>
                </a:moveTo>
                <a:lnTo>
                  <a:pt x="7344816" y="0"/>
                </a:lnTo>
                <a:lnTo>
                  <a:pt x="7344816" y="4893653"/>
                </a:lnTo>
                <a:lnTo>
                  <a:pt x="0" y="4893653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8686800" y="6477000"/>
            <a:ext cx="180049" cy="21041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E431C2EE-5513-1D46-A6AE-ACAFBAEB76CD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20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190500" y="482600"/>
            <a:ext cx="8566448" cy="638123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example for function call by value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2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</a:t>
            </a:r>
            <a:r>
              <a:rPr lang="en-US" altLang="zh-CN" sz="2796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#include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&lt;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stdio.h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&gt;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add1(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main(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	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num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=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5;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	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num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=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add1(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num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	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(“The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value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num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is: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%d”,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num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	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0;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add1(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value)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	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++value;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/>
              <a:t>			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0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sz="1200" dirty="0" smtClean="0">
                <a:solidFill>
                  <a:srgbClr val="000000"/>
                </a:solidFill>
                <a:latin typeface="Symbol" pitchFamily="18" charset="0"/>
                <a:cs typeface="Symbol" pitchFamily="18" charset="0"/>
              </a:rPr>
              <a:t>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357200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68300"/>
            <a:ext cx="9144000" cy="60960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686800" y="6477000"/>
            <a:ext cx="180049" cy="21041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4E26B7D2-6C84-D743-B284-A978F084B6BE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21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371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381000" y="12192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AU" sz="2000" dirty="0" smtClean="0"/>
              <a:t>#</a:t>
            </a:r>
            <a:r>
              <a:rPr lang="en-AU" sz="2000" dirty="0"/>
              <a:t>include&lt;</a:t>
            </a:r>
            <a:r>
              <a:rPr lang="en-AU" sz="2000" dirty="0" err="1"/>
              <a:t>stdio.h</a:t>
            </a:r>
            <a:r>
              <a:rPr lang="en-AU" sz="2000" dirty="0"/>
              <a:t>&gt;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AU" sz="2000" dirty="0" err="1"/>
              <a:t>int</a:t>
            </a:r>
            <a:r>
              <a:rPr lang="en-AU" sz="2000" dirty="0"/>
              <a:t> sum(</a:t>
            </a:r>
            <a:r>
              <a:rPr lang="en-AU" sz="2000" dirty="0" err="1"/>
              <a:t>int</a:t>
            </a:r>
            <a:r>
              <a:rPr lang="en-AU" sz="2000" dirty="0"/>
              <a:t> a)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AU" sz="2000" dirty="0"/>
              <a:t>{ 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AU" sz="2000" dirty="0"/>
              <a:t>  a = a+100;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AU" sz="2000" dirty="0"/>
              <a:t>}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AU" sz="2000" dirty="0" err="1"/>
              <a:t>int</a:t>
            </a:r>
            <a:r>
              <a:rPr lang="en-AU" sz="2000" dirty="0"/>
              <a:t>  main()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AU" sz="2000" dirty="0"/>
              <a:t>{ 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AU" sz="2000" dirty="0" err="1"/>
              <a:t>int</a:t>
            </a:r>
            <a:r>
              <a:rPr lang="en-AU" sz="2000" dirty="0"/>
              <a:t> a=100;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AU" sz="2000" dirty="0"/>
              <a:t>sum(a);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AU" sz="2000" dirty="0" err="1"/>
              <a:t>printf</a:t>
            </a:r>
            <a:r>
              <a:rPr lang="en-AU" sz="2000" dirty="0"/>
              <a:t>("%</a:t>
            </a:r>
            <a:r>
              <a:rPr lang="en-AU" sz="2000" dirty="0" err="1"/>
              <a:t>d",a</a:t>
            </a:r>
            <a:r>
              <a:rPr lang="en-AU" sz="2000" dirty="0"/>
              <a:t>);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AU" sz="2000" dirty="0"/>
              <a:t>}</a:t>
            </a:r>
            <a:endParaRPr lang="en-IN" sz="2000" dirty="0"/>
          </a:p>
        </p:txBody>
      </p:sp>
      <p:sp>
        <p:nvSpPr>
          <p:cNvPr id="3" name="TPAnswers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81000" y="3733800"/>
            <a:ext cx="3048000" cy="20574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100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200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0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Error</a:t>
            </a:r>
            <a:endParaRPr lang="en-IN" dirty="0"/>
          </a:p>
        </p:txBody>
      </p:sp>
      <p:graphicFrame>
        <p:nvGraphicFramePr>
          <p:cNvPr id="4" name="TPChart"/>
          <p:cNvGraphicFramePr>
            <a:graphicFrameLocks noChangeAspect="1"/>
          </p:cNvGraphicFramePr>
          <p:nvPr>
            <p:custDataLst>
              <p:tags r:id="rId4"/>
            </p:custDataLst>
            <p:extLst/>
          </p:nvPr>
        </p:nvGraphicFramePr>
        <p:xfrm>
          <a:off x="4508500" y="1600200"/>
          <a:ext cx="4572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Chart" r:id="rId7" imgW="4572000" imgH="5143500" progId="MSGraph.Chart.8">
                  <p:embed followColorScheme="full"/>
                </p:oleObj>
              </mc:Choice>
              <mc:Fallback>
                <p:oleObj name="Chart" r:id="rId7" imgW="4572000" imgH="5143500" progId="MSGraph.Chart.8">
                  <p:embed followColorScheme="full"/>
                  <p:pic>
                    <p:nvPicPr>
                      <p:cNvPr id="4" name="TPChart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08500" y="1600200"/>
                        <a:ext cx="4572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AI1"/>
          <p:cNvSpPr/>
          <p:nvPr>
            <p:custDataLst>
              <p:tags r:id="rId5"/>
            </p:custDataLst>
          </p:nvPr>
        </p:nvSpPr>
        <p:spPr>
          <a:xfrm>
            <a:off x="961390" y="3779520"/>
            <a:ext cx="692150" cy="411480"/>
          </a:xfrm>
          <a:prstGeom prst="roundRect">
            <a:avLst/>
          </a:prstGeom>
          <a:noFill/>
          <a:ln w="25400" cap="flat" cmpd="sng" algn="ctr">
            <a:solidFill>
              <a:srgbClr val="00C80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20004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6" presetClass="emph" presetSubtype="0" repeatCount="1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4" grpId="0"/>
      <p:bldP spid="8" grpId="0" animBg="1"/>
      <p:bldP spid="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IN" sz="2000" dirty="0"/>
              <a:t>#include&lt;</a:t>
            </a:r>
            <a:r>
              <a:rPr lang="en-IN" sz="2000" dirty="0" err="1"/>
              <a:t>stdio.h</a:t>
            </a:r>
            <a:r>
              <a:rPr lang="en-IN" sz="2000" dirty="0"/>
              <a:t>&gt;</a:t>
            </a:r>
            <a:br>
              <a:rPr lang="en-IN" sz="2000" dirty="0"/>
            </a:br>
            <a:r>
              <a:rPr lang="en-IN" sz="2000" dirty="0" err="1"/>
              <a:t>int</a:t>
            </a:r>
            <a:r>
              <a:rPr lang="en-IN" sz="2000" dirty="0"/>
              <a:t> sum(</a:t>
            </a:r>
            <a:r>
              <a:rPr lang="en-IN" sz="2000" dirty="0" err="1"/>
              <a:t>int</a:t>
            </a:r>
            <a:r>
              <a:rPr lang="en-IN" sz="2000" dirty="0"/>
              <a:t> a);</a:t>
            </a:r>
            <a:br>
              <a:rPr lang="en-IN" sz="2000" dirty="0"/>
            </a:br>
            <a:r>
              <a:rPr lang="en-IN" sz="2000" dirty="0" err="1"/>
              <a:t>int</a:t>
            </a:r>
            <a:r>
              <a:rPr lang="en-IN" sz="2000" dirty="0"/>
              <a:t>  main()</a:t>
            </a:r>
            <a:br>
              <a:rPr lang="en-IN" sz="2000" dirty="0"/>
            </a:br>
            <a:r>
              <a:rPr lang="en-IN" sz="2000" dirty="0"/>
              <a:t>{ </a:t>
            </a:r>
            <a:br>
              <a:rPr lang="en-IN" sz="2000" dirty="0"/>
            </a:br>
            <a:r>
              <a:rPr lang="en-IN" sz="2000" dirty="0" err="1"/>
              <a:t>int</a:t>
            </a:r>
            <a:r>
              <a:rPr lang="en-IN" sz="2000" dirty="0"/>
              <a:t> a=100;</a:t>
            </a:r>
            <a:br>
              <a:rPr lang="en-IN" sz="2000" dirty="0"/>
            </a:br>
            <a:r>
              <a:rPr lang="en-IN" sz="2000" dirty="0"/>
              <a:t>sum(a);</a:t>
            </a:r>
            <a:br>
              <a:rPr lang="en-IN" sz="2000" dirty="0"/>
            </a:br>
            <a:r>
              <a:rPr lang="en-IN" sz="2000" dirty="0" err="1"/>
              <a:t>printf</a:t>
            </a:r>
            <a:r>
              <a:rPr lang="en-IN" sz="2000" dirty="0"/>
              <a:t>("%</a:t>
            </a:r>
            <a:r>
              <a:rPr lang="en-IN" sz="2000" dirty="0" err="1"/>
              <a:t>d",a</a:t>
            </a:r>
            <a:r>
              <a:rPr lang="en-IN" sz="2000" dirty="0"/>
              <a:t>);</a:t>
            </a:r>
            <a:br>
              <a:rPr lang="en-IN" sz="2000" dirty="0"/>
            </a:br>
            <a:r>
              <a:rPr lang="en-IN" sz="2000" dirty="0"/>
              <a:t>}</a:t>
            </a:r>
            <a:br>
              <a:rPr lang="en-IN" sz="2000" dirty="0"/>
            </a:b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 err="1"/>
              <a:t>int</a:t>
            </a:r>
            <a:r>
              <a:rPr lang="en-IN" sz="2000" dirty="0"/>
              <a:t> sum(</a:t>
            </a:r>
            <a:r>
              <a:rPr lang="en-IN" sz="2000" dirty="0" err="1"/>
              <a:t>int</a:t>
            </a:r>
            <a:r>
              <a:rPr lang="en-IN" sz="2000" dirty="0"/>
              <a:t> a)</a:t>
            </a:r>
            <a:br>
              <a:rPr lang="en-IN" sz="2000" dirty="0"/>
            </a:br>
            <a:r>
              <a:rPr lang="en-IN" sz="2000" dirty="0"/>
              <a:t>{ </a:t>
            </a:r>
            <a:br>
              <a:rPr lang="en-IN" sz="2000" dirty="0"/>
            </a:br>
            <a:r>
              <a:rPr lang="en-IN" sz="2000" dirty="0"/>
              <a:t>  return a = a+100;</a:t>
            </a:r>
            <a:br>
              <a:rPr lang="en-IN" sz="2000" dirty="0"/>
            </a:br>
            <a:r>
              <a:rPr lang="en-IN" sz="2000" dirty="0"/>
              <a:t>}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3" name="TPAnswers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04800" y="4343400"/>
            <a:ext cx="3429000" cy="22860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100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200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0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IN" dirty="0"/>
              <a:t>E</a:t>
            </a:r>
            <a:r>
              <a:rPr lang="en-IN" dirty="0" smtClean="0"/>
              <a:t>rror</a:t>
            </a:r>
            <a:endParaRPr lang="en-IN" dirty="0"/>
          </a:p>
        </p:txBody>
      </p:sp>
      <p:graphicFrame>
        <p:nvGraphicFramePr>
          <p:cNvPr id="4" name="TPChart"/>
          <p:cNvGraphicFramePr>
            <a:graphicFrameLocks noChangeAspect="1"/>
          </p:cNvGraphicFramePr>
          <p:nvPr>
            <p:custDataLst>
              <p:tags r:id="rId4"/>
            </p:custDataLst>
            <p:extLst/>
          </p:nvPr>
        </p:nvGraphicFramePr>
        <p:xfrm>
          <a:off x="4508500" y="1600200"/>
          <a:ext cx="4572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Chart" r:id="rId7" imgW="4572000" imgH="5143500" progId="MSGraph.Chart.8">
                  <p:embed followColorScheme="full"/>
                </p:oleObj>
              </mc:Choice>
              <mc:Fallback>
                <p:oleObj name="Chart" r:id="rId7" imgW="4572000" imgH="5143500" progId="MSGraph.Chart.8">
                  <p:embed followColorScheme="full"/>
                  <p:pic>
                    <p:nvPicPr>
                      <p:cNvPr id="4" name="TPChart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08500" y="1600200"/>
                        <a:ext cx="4572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I1"/>
          <p:cNvSpPr/>
          <p:nvPr>
            <p:custDataLst>
              <p:tags r:id="rId5"/>
            </p:custDataLst>
          </p:nvPr>
        </p:nvSpPr>
        <p:spPr>
          <a:xfrm>
            <a:off x="885190" y="4389120"/>
            <a:ext cx="736600" cy="438912"/>
          </a:xfrm>
          <a:prstGeom prst="roundRect">
            <a:avLst/>
          </a:prstGeom>
          <a:noFill/>
          <a:ln w="25400" cap="flat" cmpd="sng" algn="ctr">
            <a:solidFill>
              <a:srgbClr val="00C80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95486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6" presetClass="emph" presetSubtype="0" repeatCount="1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4" grpId="0"/>
      <p:bldP spid="5" grpId="0" animBg="1"/>
      <p:bldP spid="5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304800" y="17526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IN" sz="2000" dirty="0"/>
              <a:t>#include&lt;</a:t>
            </a:r>
            <a:r>
              <a:rPr lang="en-IN" sz="2000" dirty="0" err="1"/>
              <a:t>stdio.h</a:t>
            </a:r>
            <a:r>
              <a:rPr lang="en-IN" sz="2000" dirty="0"/>
              <a:t>&gt;</a:t>
            </a:r>
            <a:br>
              <a:rPr lang="en-IN" sz="2000" dirty="0"/>
            </a:br>
            <a:r>
              <a:rPr lang="en-IN" sz="2000" dirty="0" err="1"/>
              <a:t>int</a:t>
            </a:r>
            <a:r>
              <a:rPr lang="en-IN" sz="2000" dirty="0"/>
              <a:t> sum(</a:t>
            </a:r>
            <a:r>
              <a:rPr lang="en-IN" sz="2000" dirty="0" err="1"/>
              <a:t>int</a:t>
            </a:r>
            <a:r>
              <a:rPr lang="en-IN" sz="2000" dirty="0"/>
              <a:t> a);</a:t>
            </a:r>
            <a:br>
              <a:rPr lang="en-IN" sz="2000" dirty="0"/>
            </a:br>
            <a:r>
              <a:rPr lang="en-IN" sz="2000" dirty="0" err="1"/>
              <a:t>int</a:t>
            </a:r>
            <a:r>
              <a:rPr lang="en-IN" sz="2000" dirty="0"/>
              <a:t>  main()</a:t>
            </a:r>
            <a:br>
              <a:rPr lang="en-IN" sz="2000" dirty="0"/>
            </a:br>
            <a:r>
              <a:rPr lang="en-IN" sz="2000" dirty="0"/>
              <a:t>{ </a:t>
            </a:r>
            <a:br>
              <a:rPr lang="en-IN" sz="2000" dirty="0"/>
            </a:br>
            <a:r>
              <a:rPr lang="en-IN" sz="2000" dirty="0" err="1"/>
              <a:t>int</a:t>
            </a:r>
            <a:r>
              <a:rPr lang="en-IN" sz="2000" dirty="0"/>
              <a:t> a=100;</a:t>
            </a:r>
            <a:br>
              <a:rPr lang="en-IN" sz="2000" dirty="0"/>
            </a:br>
            <a:r>
              <a:rPr lang="en-IN" sz="2000" dirty="0"/>
              <a:t>a=sum(a);</a:t>
            </a:r>
            <a:br>
              <a:rPr lang="en-IN" sz="2000" dirty="0"/>
            </a:br>
            <a:r>
              <a:rPr lang="en-IN" sz="2000" dirty="0" err="1"/>
              <a:t>printf</a:t>
            </a:r>
            <a:r>
              <a:rPr lang="en-IN" sz="2000" dirty="0"/>
              <a:t>("%</a:t>
            </a:r>
            <a:r>
              <a:rPr lang="en-IN" sz="2000" dirty="0" err="1"/>
              <a:t>d",a</a:t>
            </a:r>
            <a:r>
              <a:rPr lang="en-IN" sz="2000" dirty="0"/>
              <a:t>);</a:t>
            </a:r>
            <a:br>
              <a:rPr lang="en-IN" sz="2000" dirty="0"/>
            </a:br>
            <a:r>
              <a:rPr lang="en-IN" sz="2000" dirty="0"/>
              <a:t>}</a:t>
            </a:r>
            <a:br>
              <a:rPr lang="en-IN" sz="2000" dirty="0"/>
            </a:b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 err="1"/>
              <a:t>int</a:t>
            </a:r>
            <a:r>
              <a:rPr lang="en-IN" sz="2000" dirty="0"/>
              <a:t> sum(</a:t>
            </a:r>
            <a:r>
              <a:rPr lang="en-IN" sz="2000" dirty="0" err="1"/>
              <a:t>int</a:t>
            </a:r>
            <a:r>
              <a:rPr lang="en-IN" sz="2000" dirty="0"/>
              <a:t> a)</a:t>
            </a:r>
            <a:br>
              <a:rPr lang="en-IN" sz="2000" dirty="0"/>
            </a:br>
            <a:r>
              <a:rPr lang="en-IN" sz="2000" dirty="0"/>
              <a:t>{ </a:t>
            </a:r>
            <a:br>
              <a:rPr lang="en-IN" sz="2000" dirty="0"/>
            </a:br>
            <a:r>
              <a:rPr lang="en-IN" sz="2000" dirty="0"/>
              <a:t>  a = a+100;</a:t>
            </a:r>
            <a:br>
              <a:rPr lang="en-IN" sz="2000" dirty="0"/>
            </a:br>
            <a:r>
              <a:rPr lang="en-IN" sz="2000" dirty="0"/>
              <a:t>}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3" name="TPAnswers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52400" y="4343400"/>
            <a:ext cx="3200400" cy="2362200"/>
          </a:xfrm>
        </p:spPr>
        <p:txBody>
          <a:bodyPr/>
          <a:lstStyle/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100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200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0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Error</a:t>
            </a:r>
            <a:endParaRPr lang="en-IN" dirty="0"/>
          </a:p>
        </p:txBody>
      </p:sp>
      <p:graphicFrame>
        <p:nvGraphicFramePr>
          <p:cNvPr id="4" name="TPChart"/>
          <p:cNvGraphicFramePr>
            <a:graphicFrameLocks noChangeAspect="1"/>
          </p:cNvGraphicFramePr>
          <p:nvPr>
            <p:custDataLst>
              <p:tags r:id="rId4"/>
            </p:custDataLst>
            <p:extLst/>
          </p:nvPr>
        </p:nvGraphicFramePr>
        <p:xfrm>
          <a:off x="4508500" y="1600200"/>
          <a:ext cx="4572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Chart" r:id="rId7" imgW="4572000" imgH="5143500" progId="MSGraph.Chart.8">
                  <p:embed followColorScheme="full"/>
                </p:oleObj>
              </mc:Choice>
              <mc:Fallback>
                <p:oleObj name="Chart" r:id="rId7" imgW="4572000" imgH="5143500" progId="MSGraph.Chart.8">
                  <p:embed followColorScheme="full"/>
                  <p:pic>
                    <p:nvPicPr>
                      <p:cNvPr id="4" name="TPChart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08500" y="1600200"/>
                        <a:ext cx="4572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I1"/>
          <p:cNvSpPr/>
          <p:nvPr>
            <p:custDataLst>
              <p:tags r:id="rId5"/>
            </p:custDataLst>
          </p:nvPr>
        </p:nvSpPr>
        <p:spPr>
          <a:xfrm>
            <a:off x="732790" y="4389120"/>
            <a:ext cx="736600" cy="487680"/>
          </a:xfrm>
          <a:prstGeom prst="roundRect">
            <a:avLst/>
          </a:prstGeom>
          <a:noFill/>
          <a:ln w="25400" cap="flat" cmpd="sng" algn="ctr">
            <a:solidFill>
              <a:srgbClr val="00C80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82283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6" presetClass="emph" presetSubtype="0" repeatCount="1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4" grpId="0"/>
      <p:bldP spid="5" grpId="0" animBg="1"/>
      <p:bldP spid="5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304800" y="16764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IN" sz="2000" dirty="0"/>
              <a:t>#include&lt;</a:t>
            </a:r>
            <a:r>
              <a:rPr lang="en-IN" sz="2000" dirty="0" err="1"/>
              <a:t>stdio.h</a:t>
            </a:r>
            <a:r>
              <a:rPr lang="en-IN" sz="2000" dirty="0"/>
              <a:t>&gt;</a:t>
            </a:r>
            <a:br>
              <a:rPr lang="en-IN" sz="2000" dirty="0"/>
            </a:br>
            <a:r>
              <a:rPr lang="en-IN" sz="2000" dirty="0" err="1"/>
              <a:t>int</a:t>
            </a:r>
            <a:r>
              <a:rPr lang="en-IN" sz="2000" dirty="0"/>
              <a:t> sum(</a:t>
            </a:r>
            <a:r>
              <a:rPr lang="en-IN" sz="2000" dirty="0" err="1"/>
              <a:t>int</a:t>
            </a:r>
            <a:r>
              <a:rPr lang="en-IN" sz="2000" dirty="0"/>
              <a:t> a)</a:t>
            </a:r>
            <a:br>
              <a:rPr lang="en-IN" sz="2000" dirty="0"/>
            </a:br>
            <a:r>
              <a:rPr lang="en-IN" sz="2000" dirty="0"/>
              <a:t>{ </a:t>
            </a:r>
            <a:br>
              <a:rPr lang="en-IN" sz="2000" dirty="0"/>
            </a:br>
            <a:r>
              <a:rPr lang="en-IN" sz="2000" dirty="0"/>
              <a:t>  a = a+100;</a:t>
            </a:r>
            <a:br>
              <a:rPr lang="en-IN" sz="2000" dirty="0"/>
            </a:br>
            <a:r>
              <a:rPr lang="en-IN" sz="2000" dirty="0"/>
              <a:t>  return a;</a:t>
            </a:r>
            <a:br>
              <a:rPr lang="en-IN" sz="2000" dirty="0"/>
            </a:br>
            <a:r>
              <a:rPr lang="en-IN" sz="2000" dirty="0"/>
              <a:t>}</a:t>
            </a:r>
            <a:br>
              <a:rPr lang="en-IN" sz="2000" dirty="0"/>
            </a:br>
            <a:r>
              <a:rPr lang="en-IN" sz="2000" dirty="0" err="1"/>
              <a:t>int</a:t>
            </a:r>
            <a:r>
              <a:rPr lang="en-IN" sz="2000" dirty="0"/>
              <a:t>  main()</a:t>
            </a:r>
            <a:br>
              <a:rPr lang="en-IN" sz="2000" dirty="0"/>
            </a:br>
            <a:r>
              <a:rPr lang="en-IN" sz="2000" dirty="0"/>
              <a:t>{ </a:t>
            </a:r>
            <a:br>
              <a:rPr lang="en-IN" sz="2000" dirty="0"/>
            </a:br>
            <a:r>
              <a:rPr lang="en-IN" sz="2000" dirty="0" err="1"/>
              <a:t>int</a:t>
            </a:r>
            <a:r>
              <a:rPr lang="en-IN" sz="2000" dirty="0"/>
              <a:t> a=100;</a:t>
            </a:r>
            <a:br>
              <a:rPr lang="en-IN" sz="2000" dirty="0"/>
            </a:br>
            <a:r>
              <a:rPr lang="en-IN" sz="2000" dirty="0"/>
              <a:t>a=sum(a);</a:t>
            </a:r>
            <a:br>
              <a:rPr lang="en-IN" sz="2000" dirty="0"/>
            </a:br>
            <a:r>
              <a:rPr lang="en-IN" sz="2000" dirty="0" err="1"/>
              <a:t>printf</a:t>
            </a:r>
            <a:r>
              <a:rPr lang="en-IN" sz="2000" dirty="0"/>
              <a:t>("%</a:t>
            </a:r>
            <a:r>
              <a:rPr lang="en-IN" sz="2000" dirty="0" err="1"/>
              <a:t>d",a</a:t>
            </a:r>
            <a:r>
              <a:rPr lang="en-IN" sz="2000" dirty="0"/>
              <a:t>);</a:t>
            </a:r>
            <a:br>
              <a:rPr lang="en-IN" sz="2000" dirty="0"/>
            </a:br>
            <a:r>
              <a:rPr lang="en-IN" sz="2000" dirty="0"/>
              <a:t>}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3" name="TPAnswers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457200" y="4495800"/>
            <a:ext cx="2743200" cy="163036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100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200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0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IN" dirty="0" smtClean="0"/>
              <a:t>Error</a:t>
            </a:r>
            <a:endParaRPr lang="en-IN" dirty="0"/>
          </a:p>
        </p:txBody>
      </p:sp>
      <p:graphicFrame>
        <p:nvGraphicFramePr>
          <p:cNvPr id="4" name="TPChart"/>
          <p:cNvGraphicFramePr>
            <a:graphicFrameLocks noChangeAspect="1"/>
          </p:cNvGraphicFramePr>
          <p:nvPr>
            <p:custDataLst>
              <p:tags r:id="rId4"/>
            </p:custDataLst>
            <p:extLst/>
          </p:nvPr>
        </p:nvGraphicFramePr>
        <p:xfrm>
          <a:off x="4508500" y="1600200"/>
          <a:ext cx="4572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Chart" r:id="rId7" imgW="4572000" imgH="5143500" progId="MSGraph.Chart.8">
                  <p:embed followColorScheme="full"/>
                </p:oleObj>
              </mc:Choice>
              <mc:Fallback>
                <p:oleObj name="Chart" r:id="rId7" imgW="4572000" imgH="5143500" progId="MSGraph.Chart.8">
                  <p:embed followColorScheme="full"/>
                  <p:pic>
                    <p:nvPicPr>
                      <p:cNvPr id="4" name="TPChart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08500" y="1600200"/>
                        <a:ext cx="4572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I1"/>
          <p:cNvSpPr/>
          <p:nvPr>
            <p:custDataLst>
              <p:tags r:id="rId5"/>
            </p:custDataLst>
          </p:nvPr>
        </p:nvSpPr>
        <p:spPr>
          <a:xfrm>
            <a:off x="1037590" y="4846320"/>
            <a:ext cx="577850" cy="381000"/>
          </a:xfrm>
          <a:prstGeom prst="roundRect">
            <a:avLst/>
          </a:prstGeom>
          <a:noFill/>
          <a:ln w="25400" cap="flat" cmpd="sng" algn="ctr">
            <a:solidFill>
              <a:srgbClr val="00C80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92555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6" presetClass="emph" presetSubtype="0" repeatCount="1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4" grpId="0"/>
      <p:bldP spid="5" grpId="0" animBg="1"/>
      <p:bldP spid="5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3" name="TextBox 1"/>
          <p:cNvSpPr txBox="1"/>
          <p:nvPr/>
        </p:nvSpPr>
        <p:spPr>
          <a:xfrm>
            <a:off x="533400" y="215168"/>
            <a:ext cx="5745163" cy="77963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  <a:tabLst/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order of function </a:t>
            </a:r>
            <a:endParaRPr lang="en-US" altLang="zh-CN" sz="3600" dirty="0" smtClean="0">
              <a:solidFill>
                <a:srgbClr val="0060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tabLst/>
            </a:pPr>
            <a:r>
              <a:rPr lang="en-US" altLang="zh-CN" sz="3600" dirty="0" smtClean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endParaRPr lang="en-US" altLang="zh-CN" sz="3600" dirty="0">
              <a:solidFill>
                <a:srgbClr val="0060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B16EF17F-4EF6-4DDA-A99C-3165FEA9E522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26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381000" y="1295400"/>
            <a:ext cx="8372485" cy="368049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marL="342900" indent="-342900">
              <a:buFont typeface="Wingdings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It is never safe to depend on the order of evaluation of side</a:t>
            </a:r>
          </a:p>
          <a:p>
            <a:pPr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effects, </a:t>
            </a:r>
            <a:r>
              <a:rPr lang="en-US" altLang="zh-CN" sz="2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US" altLang="zh-CN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.g. a function call like below may very well behave</a:t>
            </a:r>
          </a:p>
          <a:p>
            <a:pPr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differently from one compiler to another:</a:t>
            </a:r>
          </a:p>
          <a:p>
            <a:pPr>
              <a:lnSpc>
                <a:spcPts val="1000"/>
              </a:lnSpc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1000"/>
              </a:lnSpc>
            </a:pPr>
            <a:endParaRPr lang="en-US" altLang="zh-CN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ts val="33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>
                <a:latin typeface="Arial" pitchFamily="34" charset="0"/>
                <a:cs typeface="Arial" pitchFamily="34" charset="0"/>
              </a:rPr>
              <a:t>			</a:t>
            </a:r>
            <a:r>
              <a:rPr lang="en-US" altLang="zh-CN" sz="2004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void</a:t>
            </a:r>
            <a:r>
              <a:rPr lang="en-US" altLang="zh-CN" sz="2004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altLang="zh-CN" sz="2004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func</a:t>
            </a:r>
            <a:r>
              <a:rPr lang="en-US" altLang="zh-CN" sz="2004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altLang="zh-CN" sz="2004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n-US" altLang="zh-CN" sz="2004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altLang="zh-CN" sz="2004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n-US" altLang="zh-CN" sz="2004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lnSpc>
                <a:spcPts val="24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>
                <a:latin typeface="Arial" pitchFamily="34" charset="0"/>
                <a:cs typeface="Arial" pitchFamily="34" charset="0"/>
              </a:rPr>
              <a:t>			</a:t>
            </a:r>
            <a:endParaRPr lang="en-US" altLang="zh-CN" sz="2004" dirty="0" smtClean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24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>
                <a:latin typeface="Arial" pitchFamily="34" charset="0"/>
                <a:cs typeface="Arial" pitchFamily="34" charset="0"/>
              </a:rPr>
              <a:t>			</a:t>
            </a:r>
            <a:r>
              <a:rPr lang="en-US" altLang="zh-CN" sz="2004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n-US" altLang="zh-CN" sz="2004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sz="2004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altLang="zh-CN" sz="2004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=2;</a:t>
            </a:r>
          </a:p>
          <a:p>
            <a:pPr>
              <a:lnSpc>
                <a:spcPts val="2400"/>
              </a:lnSpc>
              <a:spcAft>
                <a:spcPts val="2400"/>
              </a:spcAft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dirty="0" smtClean="0">
                <a:latin typeface="Arial" pitchFamily="34" charset="0"/>
                <a:cs typeface="Arial" pitchFamily="34" charset="0"/>
              </a:rPr>
              <a:t>		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dirty="0" smtClean="0">
                <a:latin typeface="Arial" pitchFamily="34" charset="0"/>
                <a:cs typeface="Arial" pitchFamily="34" charset="0"/>
              </a:rPr>
              <a:t>          </a:t>
            </a:r>
            <a:r>
              <a:rPr lang="en-US" altLang="zh-CN" sz="2004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func</a:t>
            </a:r>
            <a:r>
              <a:rPr lang="en-US" altLang="zh-CN" sz="2004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(i++, i++);</a:t>
            </a:r>
          </a:p>
          <a:p>
            <a:pPr marL="342900" indent="-342900">
              <a:lnSpc>
                <a:spcPts val="2400"/>
              </a:lnSpc>
              <a:buFont typeface="Wingdings" pitchFamily="2" charset="2"/>
              <a:buChar char="§"/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Either increment might happen first: </a:t>
            </a:r>
            <a:r>
              <a:rPr lang="en-US" altLang="zh-CN" sz="2400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func</a:t>
            </a:r>
            <a:r>
              <a:rPr lang="en-US" altLang="zh-CN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(2,2), or </a:t>
            </a:r>
          </a:p>
          <a:p>
            <a:pPr>
              <a:lnSpc>
                <a:spcPts val="2400"/>
              </a:lnSpc>
              <a:tabLst>
                <a:tab pos="190500" algn="l"/>
                <a:tab pos="469900" algn="l"/>
                <a:tab pos="1168400" algn="l"/>
                <a:tab pos="1866900" algn="l"/>
              </a:tabLst>
            </a:pPr>
            <a:r>
              <a:rPr lang="en-US" altLang="zh-CN" sz="2400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func</a:t>
            </a:r>
            <a:r>
              <a:rPr lang="en-US" altLang="zh-CN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(3, 2), or even </a:t>
            </a:r>
            <a:r>
              <a:rPr lang="en-US" altLang="zh-CN" sz="2400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func</a:t>
            </a:r>
            <a:r>
              <a:rPr lang="en-US" altLang="zh-CN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(3, 3)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111270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5724399" y="1143000"/>
            <a:ext cx="2568702" cy="4767706"/>
          </a:xfrm>
          <a:custGeom>
            <a:avLst/>
            <a:gdLst>
              <a:gd name="connsiteX0" fmla="*/ 0 w 3240087"/>
              <a:gd name="connsiteY0" fmla="*/ 0 h 4031869"/>
              <a:gd name="connsiteX1" fmla="*/ 3240087 w 3240087"/>
              <a:gd name="connsiteY1" fmla="*/ 0 h 4031869"/>
              <a:gd name="connsiteX2" fmla="*/ 3240087 w 3240087"/>
              <a:gd name="connsiteY2" fmla="*/ 4031869 h 4031869"/>
              <a:gd name="connsiteX3" fmla="*/ 0 w 3240087"/>
              <a:gd name="connsiteY3" fmla="*/ 4031869 h 4031869"/>
              <a:gd name="connsiteX4" fmla="*/ 0 w 3240087"/>
              <a:gd name="connsiteY4" fmla="*/ 0 h 403186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240087" h="4031869">
                <a:moveTo>
                  <a:pt x="0" y="0"/>
                </a:moveTo>
                <a:lnTo>
                  <a:pt x="3240087" y="0"/>
                </a:lnTo>
                <a:lnTo>
                  <a:pt x="3240087" y="4031869"/>
                </a:lnTo>
                <a:lnTo>
                  <a:pt x="0" y="4031869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3" name="TextBox 1"/>
          <p:cNvSpPr txBox="1"/>
          <p:nvPr/>
        </p:nvSpPr>
        <p:spPr>
          <a:xfrm>
            <a:off x="533400" y="509161"/>
            <a:ext cx="5924699" cy="42056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  <a:tabLst/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order of operands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B16EF17F-4EF6-4DDA-A99C-3165FEA9E522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27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5842000" y="1296918"/>
            <a:ext cx="2540000" cy="4570482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include&lt;</a:t>
            </a:r>
            <a:r>
              <a:rPr lang="en-AU" sz="1400" dirty="0" err="1">
                <a:latin typeface="Consolas" pitchFamily="49" charset="0"/>
                <a:cs typeface="Consolas" pitchFamily="49" charset="0"/>
              </a:rPr>
              <a:t>stdio.h</a:t>
            </a:r>
            <a:r>
              <a:rPr lang="en-AU" sz="14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pPr fontAlgn="base"/>
            <a:r>
              <a:rPr lang="en-AU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AU" sz="1400" dirty="0">
                <a:latin typeface="Consolas" pitchFamily="49" charset="0"/>
                <a:cs typeface="Consolas" pitchFamily="49" charset="0"/>
              </a:rPr>
              <a:t> x = 0;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 </a:t>
            </a:r>
          </a:p>
          <a:p>
            <a:pPr fontAlgn="base"/>
            <a:r>
              <a:rPr lang="en-AU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AU" sz="1400" dirty="0">
                <a:latin typeface="Consolas" pitchFamily="49" charset="0"/>
                <a:cs typeface="Consolas" pitchFamily="49" charset="0"/>
              </a:rPr>
              <a:t> f1()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  x = 5;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  return x;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 </a:t>
            </a:r>
          </a:p>
          <a:p>
            <a:pPr fontAlgn="base"/>
            <a:r>
              <a:rPr lang="en-AU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AU" sz="1400" dirty="0">
                <a:latin typeface="Consolas" pitchFamily="49" charset="0"/>
                <a:cs typeface="Consolas" pitchFamily="49" charset="0"/>
              </a:rPr>
              <a:t> f2()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  x = 10;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  return x;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 </a:t>
            </a:r>
          </a:p>
          <a:p>
            <a:pPr fontAlgn="base"/>
            <a:r>
              <a:rPr lang="en-AU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AU" sz="1400" dirty="0">
                <a:latin typeface="Consolas" pitchFamily="49" charset="0"/>
                <a:cs typeface="Consolas" pitchFamily="49" charset="0"/>
              </a:rPr>
              <a:t> main()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  </a:t>
            </a:r>
            <a:r>
              <a:rPr lang="en-AU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AU" sz="1400" dirty="0">
                <a:latin typeface="Consolas" pitchFamily="49" charset="0"/>
                <a:cs typeface="Consolas" pitchFamily="49" charset="0"/>
              </a:rPr>
              <a:t> p = f1() + f2();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  </a:t>
            </a:r>
            <a:r>
              <a:rPr lang="en-AU" sz="1400" dirty="0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AU" sz="1400" dirty="0">
                <a:latin typeface="Consolas" pitchFamily="49" charset="0"/>
                <a:cs typeface="Consolas" pitchFamily="49" charset="0"/>
              </a:rPr>
              <a:t>("%d ", x</a:t>
            </a:r>
            <a:r>
              <a:rPr lang="en-AU" sz="1400" dirty="0" smtClean="0">
                <a:latin typeface="Consolas" pitchFamily="49" charset="0"/>
                <a:cs typeface="Consolas" pitchFamily="49" charset="0"/>
              </a:rPr>
              <a:t>);</a:t>
            </a:r>
            <a:endParaRPr lang="en-AU" sz="1400" dirty="0">
              <a:latin typeface="Consolas" pitchFamily="49" charset="0"/>
              <a:cs typeface="Consolas" pitchFamily="49" charset="0"/>
            </a:endParaRP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  return 0;</a:t>
            </a:r>
          </a:p>
          <a:p>
            <a:pPr fontAlgn="base"/>
            <a:r>
              <a:rPr lang="en-AU" sz="14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0" y="6502400"/>
            <a:ext cx="2491964" cy="22570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533400" y="1219200"/>
            <a:ext cx="4800600" cy="315471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marL="285750" indent="-285750" algn="just" fontAlgn="base">
              <a:spcAft>
                <a:spcPts val="1200"/>
              </a:spcAft>
              <a:buFont typeface="Wingdings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Consider the following piece of program, what would be the output of the program? ‘5’ or ‘10’ ?</a:t>
            </a:r>
          </a:p>
          <a:p>
            <a:pPr marL="342900" indent="-342900" algn="just" fontAlgn="base">
              <a:buFont typeface="Wingdings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The output is undefined as the order of evaluation of </a:t>
            </a:r>
            <a:r>
              <a:rPr lang="en-AU" sz="2400" dirty="0" smtClean="0">
                <a:latin typeface="Consolas" pitchFamily="49" charset="0"/>
                <a:cs typeface="Consolas" pitchFamily="49" charset="0"/>
              </a:rPr>
              <a:t>f1() + f2() 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is not mandated by standard. The compiler is free to first call either </a:t>
            </a:r>
            <a:r>
              <a:rPr lang="en-AU" sz="2400" dirty="0" smtClean="0">
                <a:latin typeface="Consolas" pitchFamily="49" charset="0"/>
                <a:cs typeface="Consolas" pitchFamily="49" charset="0"/>
              </a:rPr>
              <a:t>f1() 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AU" sz="2400" dirty="0" smtClean="0">
                <a:latin typeface="Consolas" pitchFamily="49" charset="0"/>
                <a:cs typeface="Consolas" pitchFamily="49" charset="0"/>
              </a:rPr>
              <a:t> f2().</a:t>
            </a:r>
            <a:endParaRPr lang="en-AU" sz="24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42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BCD809F0-E226-42A9-86F5-99B409F1E33E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28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190500" y="590173"/>
            <a:ext cx="8661025" cy="4316566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5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Passing arrays to functions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 marL="285750" indent="-285750">
              <a:lnSpc>
                <a:spcPts val="2600"/>
              </a:lnSpc>
              <a:buFont typeface="Wingdings" pitchFamily="2" charset="2"/>
              <a:buChar char="§"/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dirty="0" smtClean="0"/>
              <a:t>	</a:t>
            </a:r>
            <a:r>
              <a:rPr lang="en-US" altLang="zh-CN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An array name is really the address of the first element of the</a:t>
            </a:r>
          </a:p>
          <a:p>
            <a:pPr>
              <a:lnSpc>
                <a:spcPts val="26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 array</a:t>
            </a:r>
          </a:p>
          <a:p>
            <a:pPr>
              <a:lnSpc>
                <a:spcPts val="26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0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dirty="0" smtClean="0"/>
              <a:t>	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#include &lt;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stdio.h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&gt;</a:t>
            </a:r>
          </a:p>
          <a:p>
            <a:pPr>
              <a:lnSpc>
                <a:spcPts val="30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main()</a:t>
            </a:r>
          </a:p>
          <a:p>
            <a:pPr>
              <a:lnSpc>
                <a:spcPts val="30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{</a:t>
            </a:r>
          </a:p>
          <a:p>
            <a:pPr>
              <a:lnSpc>
                <a:spcPts val="30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char array[5];</a:t>
            </a:r>
          </a:p>
          <a:p>
            <a:pPr>
              <a:lnSpc>
                <a:spcPts val="30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(“  array=%p\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n&amp;array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[0]=%p\n  &amp;array=</a:t>
            </a:r>
          </a:p>
          <a:p>
            <a:pPr>
              <a:lnSpc>
                <a:spcPts val="30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              %p\n”, array, &amp;array[0],&amp;array);</a:t>
            </a:r>
          </a:p>
          <a:p>
            <a:pPr>
              <a:lnSpc>
                <a:spcPts val="30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}   </a:t>
            </a:r>
            <a:endParaRPr lang="en-US" altLang="zh-CN" dirty="0" smtClean="0"/>
          </a:p>
        </p:txBody>
      </p:sp>
      <p:sp>
        <p:nvSpPr>
          <p:cNvPr id="5" name="Freeform 4"/>
          <p:cNvSpPr/>
          <p:nvPr/>
        </p:nvSpPr>
        <p:spPr>
          <a:xfrm>
            <a:off x="2590800" y="4524848"/>
            <a:ext cx="3048000" cy="1190152"/>
          </a:xfrm>
          <a:custGeom>
            <a:avLst/>
            <a:gdLst>
              <a:gd name="connsiteX0" fmla="*/ 0 w 2517419"/>
              <a:gd name="connsiteY0" fmla="*/ 0 h 2308326"/>
              <a:gd name="connsiteX1" fmla="*/ 2517419 w 2517419"/>
              <a:gd name="connsiteY1" fmla="*/ 0 h 2308326"/>
              <a:gd name="connsiteX2" fmla="*/ 2517419 w 2517419"/>
              <a:gd name="connsiteY2" fmla="*/ 2308326 h 2308326"/>
              <a:gd name="connsiteX3" fmla="*/ 0 w 2517419"/>
              <a:gd name="connsiteY3" fmla="*/ 2308326 h 2308326"/>
              <a:gd name="connsiteX4" fmla="*/ 0 w 2517419"/>
              <a:gd name="connsiteY4" fmla="*/ 0 h 230832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517419" h="2308326">
                <a:moveTo>
                  <a:pt x="0" y="0"/>
                </a:moveTo>
                <a:lnTo>
                  <a:pt x="2517419" y="0"/>
                </a:lnTo>
                <a:lnTo>
                  <a:pt x="2517419" y="2308326"/>
                </a:lnTo>
                <a:lnTo>
                  <a:pt x="0" y="2308326"/>
                </a:lnTo>
                <a:lnTo>
                  <a:pt x="0" y="0"/>
                </a:lnTo>
              </a:path>
            </a:pathLst>
          </a:custGeom>
          <a:solidFill>
            <a:srgbClr val="DEDE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1"/>
          <p:cNvSpPr txBox="1"/>
          <p:nvPr/>
        </p:nvSpPr>
        <p:spPr>
          <a:xfrm>
            <a:off x="2720931" y="4810944"/>
            <a:ext cx="3016338" cy="858889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100"/>
              </a:lnSpc>
              <a:tabLst>
                <a:tab pos="304800" algn="l"/>
                <a:tab pos="3810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array =0012FF78</a:t>
            </a:r>
          </a:p>
          <a:p>
            <a:pPr>
              <a:lnSpc>
                <a:spcPts val="2100"/>
              </a:lnSpc>
              <a:tabLst>
                <a:tab pos="304800" algn="l"/>
                <a:tab pos="3810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&amp;array[0]=0012FF78</a:t>
            </a:r>
          </a:p>
          <a:p>
            <a:pPr>
              <a:lnSpc>
                <a:spcPts val="2100"/>
              </a:lnSpc>
              <a:tabLst>
                <a:tab pos="304800" algn="l"/>
                <a:tab pos="3810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&amp;array=0012FF78</a:t>
            </a:r>
          </a:p>
        </p:txBody>
      </p:sp>
      <p:sp>
        <p:nvSpPr>
          <p:cNvPr id="7" name="TextBox 8"/>
          <p:cNvSpPr txBox="1"/>
          <p:nvPr/>
        </p:nvSpPr>
        <p:spPr>
          <a:xfrm>
            <a:off x="280263" y="6376561"/>
            <a:ext cx="2440668" cy="405239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© 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  <a:p>
            <a:pPr>
              <a:lnSpc>
                <a:spcPts val="1400"/>
              </a:lnSpc>
              <a:tabLst/>
            </a:pPr>
            <a:r>
              <a:rPr lang="en-US" altLang="zh-CN"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 V1.0_February 2015 </a:t>
            </a:r>
          </a:p>
        </p:txBody>
      </p:sp>
    </p:spTree>
    <p:extLst>
      <p:ext uri="{BB962C8B-B14F-4D97-AF65-F5344CB8AC3E}">
        <p14:creationId xmlns:p14="http://schemas.microsoft.com/office/powerpoint/2010/main" val="182844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686800" y="6477000"/>
            <a:ext cx="89768" cy="20377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BCD809F0-E226-42A9-86F5-99B409F1E33E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29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190500" y="590173"/>
            <a:ext cx="8349273" cy="55220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5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Passing arrays to functions (cont.)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 marL="285750" indent="-285750">
              <a:lnSpc>
                <a:spcPts val="2600"/>
              </a:lnSpc>
              <a:buFont typeface="Wingdings" pitchFamily="2" charset="2"/>
              <a:buChar char="§"/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 smtClean="0"/>
              <a:t>	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automatically passes arrays to functions by reference</a:t>
            </a:r>
          </a:p>
          <a:p>
            <a:pPr>
              <a:lnSpc>
                <a:spcPts val="26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dirty="0" smtClean="0"/>
              <a:t>	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a1[size];</a:t>
            </a:r>
          </a:p>
          <a:p>
            <a:pPr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 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modifyarray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b[], 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x);</a:t>
            </a:r>
          </a:p>
          <a:p>
            <a:pPr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	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modifyelement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e);</a:t>
            </a:r>
          </a:p>
          <a:p>
            <a:pPr>
              <a:lnSpc>
                <a:spcPts val="30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</a:t>
            </a:r>
          </a:p>
          <a:p>
            <a:pPr marL="342900" indent="-342900">
              <a:lnSpc>
                <a:spcPts val="3000"/>
              </a:lnSpc>
              <a:buFont typeface="Wingdings" pitchFamily="2" charset="2"/>
              <a:buChar char="§"/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function call 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modifyarray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(a1, size)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passes array </a:t>
            </a:r>
            <a:r>
              <a:rPr lang="en-US" altLang="zh-CN" sz="2400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a1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0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 its size to function </a:t>
            </a: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modifyarray</a:t>
            </a:r>
            <a:endParaRPr lang="en-US" altLang="zh-CN" sz="2400" dirty="0" smtClean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30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endParaRPr lang="en-US" altLang="zh-CN" sz="2400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marL="342900" indent="-342900">
              <a:lnSpc>
                <a:spcPts val="3000"/>
              </a:lnSpc>
              <a:buFont typeface="Wingdings" pitchFamily="2" charset="2"/>
              <a:buChar char="§"/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There is a difference between passing an entire array and passing</a:t>
            </a:r>
          </a:p>
          <a:p>
            <a:pPr>
              <a:lnSpc>
                <a:spcPts val="3000"/>
              </a:lnSpc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an array element. Compare the function calls below:</a:t>
            </a:r>
          </a:p>
          <a:p>
            <a:pPr lvl="1"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modifyarray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(a1, size);</a:t>
            </a:r>
            <a:endParaRPr lang="en-US" altLang="zh-CN" sz="2400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 lvl="1">
              <a:tabLst>
                <a:tab pos="342900" algn="l"/>
                <a:tab pos="1282700" algn="l"/>
                <a:tab pos="1562100" algn="l"/>
                <a:tab pos="1841500" algn="l"/>
                <a:tab pos="2120900" algn="l"/>
                <a:tab pos="2552700" algn="l"/>
              </a:tabLst>
            </a:pPr>
            <a:r>
              <a:rPr lang="en-US" altLang="zh-CN" sz="2400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modifyelement</a:t>
            </a:r>
            <a:r>
              <a:rPr lang="en-US" altLang="zh-CN" sz="2400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(a1[0]);</a:t>
            </a:r>
            <a:endParaRPr lang="en-US" altLang="zh-CN" sz="2400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45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" y="6502400"/>
            <a:ext cx="2413000" cy="177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Symbol" pitchFamily="18" charset="0"/>
                <a:cs typeface="Symbol" pitchFamily="18" charset="0"/>
              </a:rPr>
              <a:t>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660400" y="368300"/>
            <a:ext cx="7899598" cy="1007968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  <a:tabLst>
                <a:tab pos="38100" algn="l"/>
              </a:tabLst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Pointers - Function Call by References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700"/>
              </a:lnSpc>
              <a:tabLst>
                <a:tab pos="38100" algn="l"/>
              </a:tabLst>
            </a:pPr>
            <a:r>
              <a:rPr lang="en-US" altLang="zh-CN" dirty="0" smtClean="0"/>
              <a:t>	</a:t>
            </a:r>
            <a:r>
              <a:rPr lang="en-US" altLang="zh-CN" sz="2796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8686800" y="6477000"/>
            <a:ext cx="228600" cy="210417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21A67D78-D845-A349-AF1D-B14026AE7926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30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1371600"/>
            <a:ext cx="6934200" cy="4874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#include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stdio.h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&gt;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oid add2(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 *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ptr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main(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/>
              <a:t>		</a:t>
            </a:r>
            <a:r>
              <a:rPr lang="en-US" altLang="zh-CN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num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=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5;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/>
              <a:t>		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add2(&amp;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num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/>
              <a:t>		</a:t>
            </a:r>
            <a:r>
              <a:rPr lang="en-US" altLang="zh-CN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printf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(“The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value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of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num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is: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%d”,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num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/>
              <a:t>		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return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0;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void add2(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int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 smtClean="0">
                <a:latin typeface="Consolas"/>
                <a:cs typeface="Consolas"/>
              </a:rPr>
              <a:t>*</a:t>
            </a:r>
            <a:r>
              <a:rPr lang="en-US" altLang="zh-CN" dirty="0" err="1" smtClean="0">
                <a:latin typeface="Consolas"/>
                <a:cs typeface="Consolas"/>
              </a:rPr>
              <a:t>ptr</a:t>
            </a:r>
            <a:r>
              <a:rPr lang="en-US" altLang="zh-CN" dirty="0" smtClean="0">
                <a:solidFill>
                  <a:srgbClr val="000000"/>
                </a:solidFill>
                <a:latin typeface="Consolas"/>
                <a:cs typeface="Consolas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/>
              <a:t>		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++(*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ptr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);</a:t>
            </a:r>
            <a:endParaRPr lang="en-US" altLang="zh-CN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  <a:p>
            <a:pPr>
              <a:lnSpc>
                <a:spcPts val="2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Consolas" pitchFamily="18" charset="0"/>
                <a:cs typeface="Consolas" pitchFamily="18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82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" y="165100"/>
            <a:ext cx="8191500" cy="65278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686800" y="6477000"/>
            <a:ext cx="180049" cy="21041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C00778BC-68EB-2242-97B6-CCF62BA61496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31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86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" y="6502400"/>
            <a:ext cx="2413000" cy="177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Symbol" pitchFamily="18" charset="0"/>
                <a:cs typeface="Symbol" pitchFamily="18" charset="0"/>
              </a:rPr>
              <a:t>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457200" y="457200"/>
            <a:ext cx="6360716" cy="1007968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  <a:tabLst>
                <a:tab pos="38100" algn="l"/>
              </a:tabLst>
            </a:pPr>
            <a:r>
              <a:rPr lang="en-US" altLang="zh-CN" sz="3600" dirty="0" smtClean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Pointers as function arguments</a:t>
            </a:r>
            <a:endParaRPr lang="en-US" altLang="zh-CN" sz="3600" dirty="0">
              <a:solidFill>
                <a:srgbClr val="0060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700"/>
              </a:lnSpc>
              <a:tabLst>
                <a:tab pos="38100" algn="l"/>
              </a:tabLst>
            </a:pPr>
            <a:r>
              <a:rPr lang="en-US" altLang="zh-CN" dirty="0" smtClean="0"/>
              <a:t>	</a:t>
            </a:r>
            <a:endParaRPr lang="en-US" altLang="zh-CN" sz="2796" b="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8686800" y="6477000"/>
            <a:ext cx="228600" cy="210417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21A67D78-D845-A349-AF1D-B14026AE7926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1371600"/>
            <a:ext cx="6934200" cy="517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  <a:tabLst>
                <a:tab pos="419100" algn="l"/>
                <a:tab pos="431800" algn="l"/>
                <a:tab pos="939800" algn="l"/>
                <a:tab pos="1447800" algn="l"/>
              </a:tabLst>
            </a:pPr>
            <a:endParaRPr lang="en-US" altLang="zh-CN" dirty="0">
              <a:solidFill>
                <a:srgbClr val="000000"/>
              </a:solidFill>
              <a:latin typeface="Consolas" pitchFamily="18" charset="0"/>
              <a:cs typeface="Consolas" pitchFamily="18" charset="0"/>
            </a:endParaRPr>
          </a:p>
        </p:txBody>
      </p:sp>
      <p:pic>
        <p:nvPicPr>
          <p:cNvPr id="7" name="LW8Rfh6TzGg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95300" y="1219200"/>
            <a:ext cx="7886700" cy="44362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5807869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https://www.youtube.com/watch?v=LW8Rfh6TzGg&amp;index=5&amp;list=PL2_aWCzGMAwLZp6LMUKI3cc7pgGsasm2_</a:t>
            </a:r>
          </a:p>
        </p:txBody>
      </p:sp>
    </p:spTree>
    <p:extLst>
      <p:ext uri="{BB962C8B-B14F-4D97-AF65-F5344CB8AC3E}">
        <p14:creationId xmlns:p14="http://schemas.microsoft.com/office/powerpoint/2010/main" val="173189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2200" y="0"/>
            <a:ext cx="1701800" cy="850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0500" y="6502400"/>
            <a:ext cx="2413000" cy="177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/>
            </a:pPr>
            <a:r>
              <a:rPr lang="en-US" altLang="zh-CN" sz="1200" dirty="0" smtClean="0">
                <a:solidFill>
                  <a:srgbClr val="000000"/>
                </a:solidFill>
                <a:latin typeface="Symbol" pitchFamily="18" charset="0"/>
                <a:cs typeface="Symbol" pitchFamily="18" charset="0"/>
              </a:rPr>
              <a:t>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Swinburne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3" name="TextBox 1"/>
          <p:cNvSpPr txBox="1"/>
          <p:nvPr/>
        </p:nvSpPr>
        <p:spPr>
          <a:xfrm>
            <a:off x="660400" y="495300"/>
            <a:ext cx="6360716" cy="42056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800"/>
              </a:lnSpc>
              <a:tabLst/>
            </a:pPr>
            <a:r>
              <a:rPr lang="en-US" altLang="zh-CN" sz="3600" dirty="0">
                <a:solidFill>
                  <a:srgbClr val="006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to use call by reference?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665794" y="1658570"/>
            <a:ext cx="165100" cy="1238801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100" dirty="0" smtClean="0">
                <a:solidFill>
                  <a:srgbClr val="000000"/>
                </a:solidFill>
                <a:latin typeface="Wingdings" pitchFamily="18" charset="0"/>
                <a:cs typeface="Wingdings" pitchFamily="18" charset="0"/>
              </a:rPr>
              <a:t>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000"/>
              </a:lnSpc>
              <a:tabLst/>
            </a:pPr>
            <a:r>
              <a:rPr lang="en-US" altLang="zh-CN" sz="2100" dirty="0" smtClean="0">
                <a:solidFill>
                  <a:srgbClr val="000000"/>
                </a:solidFill>
                <a:latin typeface="Wingdings" pitchFamily="18" charset="0"/>
                <a:cs typeface="Wingdings" pitchFamily="18" charset="0"/>
              </a:rPr>
              <a:t>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965200" y="1676400"/>
            <a:ext cx="7901649" cy="3508653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5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Need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pass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more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than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back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>
              <a:lnSpc>
                <a:spcPts val="33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7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using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will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result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large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piece</a:t>
            </a:r>
          </a:p>
          <a:p>
            <a:pPr>
              <a:lnSpc>
                <a:spcPts val="33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information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being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copied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formal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</a:t>
            </a:r>
          </a:p>
          <a:p>
            <a:pPr>
              <a:lnSpc>
                <a:spcPts val="33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(for</a:t>
            </a:r>
            <a:r>
              <a:rPr lang="en-US" altLang="zh-CN" sz="27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efficiency)</a:t>
            </a:r>
          </a:p>
          <a:p>
            <a:pPr>
              <a:lnSpc>
                <a:spcPts val="3300"/>
              </a:lnSpc>
              <a:tabLst/>
            </a:pPr>
            <a:r>
              <a:rPr lang="en-US" altLang="zh-CN" sz="2796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Call by reference saves a lot of memory – creating a copy of complex data type we can just use a reference to it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8686800" y="6477000"/>
            <a:ext cx="180049" cy="21041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29E0FFFA-FF88-4D48-8145-E7EF4DFB167F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33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665794" y="3810000"/>
            <a:ext cx="165100" cy="98232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100" dirty="0" smtClean="0">
                <a:solidFill>
                  <a:srgbClr val="000000"/>
                </a:solidFill>
                <a:latin typeface="Wingdings" pitchFamily="18" charset="0"/>
                <a:cs typeface="Wingdings" pitchFamily="18" charset="0"/>
              </a:rPr>
              <a:t>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004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2400" y="0"/>
            <a:ext cx="7340600" cy="68580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342900" y="177800"/>
            <a:ext cx="4205960" cy="31547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100"/>
              </a:lnSpc>
              <a:tabLst/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Example: A hybrid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call</a:t>
            </a:r>
          </a:p>
        </p:txBody>
      </p:sp>
      <p:sp>
        <p:nvSpPr>
          <p:cNvPr id="3" name="TextBox 1"/>
          <p:cNvSpPr txBox="1"/>
          <p:nvPr/>
        </p:nvSpPr>
        <p:spPr>
          <a:xfrm>
            <a:off x="8686800" y="6477000"/>
            <a:ext cx="180049" cy="21041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78F4D83E-9B80-3145-BEA7-CCA3465DCB7A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34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34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0" y="3352800"/>
            <a:ext cx="1429879" cy="32028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100"/>
              </a:lnSpc>
              <a:tabLst/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TextBox 1"/>
          <p:cNvSpPr txBox="1"/>
          <p:nvPr/>
        </p:nvSpPr>
        <p:spPr>
          <a:xfrm>
            <a:off x="8686800" y="6477000"/>
            <a:ext cx="180049" cy="21041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/>
            </a:pPr>
            <a:fld id="{78F4D83E-9B80-3145-BEA7-CCA3465DCB7A}" type="slidenum">
              <a:rPr lang="en-US" altLang="zh-CN" sz="1404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35</a:t>
            </a:fld>
            <a:endParaRPr lang="en-US" altLang="zh-CN" sz="1404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48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87FE6BDB4801471E84C3E3CB1F13A686&lt;/guid&gt;&#10;        &lt;description /&gt;&#10;        &lt;date&gt;7/28/2016 7:50:23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C12572E44BA24918B4B1D36BEE28EF85&lt;/guid&gt;&#10;            &lt;repollguid&gt;42A282362DDF45369288B59FE81DBCB7&lt;/repollguid&gt;&#10;            &lt;sourceid&gt;4A29E124B7694887AC33851CE0B77CBA&lt;/sourceid&gt;&#10;            &lt;questiontext&gt;#include&amp;lt;stdio.h&amp;gt;int sum(int a){   a = a+100;}int  main(){ int a=100;sum(a);printf(&quot;%d&quot;,a);}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0478C878109F422DB9D04FA42CD3EA70&lt;/guid&gt;&#10;                    &lt;answertext&gt;100&lt;/answertext&gt;&#10;                    &lt;valuetype&gt;1&lt;/valuetype&gt;&#10;                &lt;/answer&gt;&#10;                &lt;answer&gt;&#10;                    &lt;guid&gt;290F28AC3D034D76A9529482CD1429C8&lt;/guid&gt;&#10;                    &lt;answertext&gt;200&lt;/answertext&gt;&#10;                    &lt;valuetype&gt;-1&lt;/valuetype&gt;&#10;                &lt;/answer&gt;&#10;                &lt;answer&gt;&#10;                    &lt;guid&gt;FF42135AE3FF4890A00872AD4F7A2763&lt;/guid&gt;&#10;                    &lt;answertext&gt;0&lt;/answertext&gt;&#10;                    &lt;valuetype&gt;-1&lt;/valuetype&gt;&#10;                &lt;/answer&gt;&#10;                &lt;answer&gt;&#10;                    &lt;guid&gt;97EF3A4CE2EC4D35BF36BBFB958A88F0&lt;/guid&gt;&#10;                    &lt;answertext&gt;Error&lt;/answertext&gt;&#10;                    &lt;valuetype&gt;-1&lt;/valuetype&gt;&#10;                &lt;/answer&gt;&#10;            &lt;/answers&gt;&#10;        &lt;/multichoice&gt;&#10;    &lt;/questions&gt;&#10;&lt;/questionlist&gt;"/>
  <p:tag name="RESULTS" val="#include&lt;stdio.h&gt;int sum(int a){   a = a+100;}int  main(){ int a=100;sum(a);printf(&quot;%d&quot;,a);}[;crlf;]3[;]3[;]3[;]False[;]1[;][;crlf;]2.33333333333333[;]2[;]1.24721912892465[;]1.55555555555556[;crlf;]1[;]1[;]1001[;]100[;][;crlf;]1[;]-1[;]2002[;]200[;][;crlf;]0[;]-1[;]03[;]0[;][;crlf;]1[;]-1[;]Error4[;]Error[;]"/>
  <p:tag name="LIVECHARTING" val="False"/>
  <p:tag name="AUTOOPENPOLL" val="True"/>
  <p:tag name="AUTOFORMATCHART" val="True"/>
  <p:tag name="HASRESULTS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COLORTYPE" val="SCHEME"/>
  <p:tag name="DEFINEDCOLORS" val="3,6,10,45,32,50,13,4,9,55,1"/>
  <p:tag name="NUMBERFORMAT" val="0"/>
  <p:tag name="LABELFORMAT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CAI" val="True"/>
  <p:tag name="TYPE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5146D4E7E72D4623B65C91820A72BE9B&lt;/guid&gt;&#10;        &lt;description /&gt;&#10;        &lt;date&gt;7/28/2016 7:53:45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3EB6CEF3C3B9447CBDACD8BEA77730D9&lt;/guid&gt;&#10;            &lt;repollguid&gt;8B3177129A4844FBA08575F3509CD6D3&lt;/repollguid&gt;&#10;            &lt;sourceid&gt;DCD19CAF7D834015BB17617408962644&lt;/sourceid&gt;&#10;            &lt;questiontext&gt;#include&amp;lt;stdio.h&amp;gt;int sum(int a);int  main(){ int a=100;sum(a);printf(&quot;%d&quot;,a);}int sum(int a){   return a = a+100;}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6769A68566A742CBA8410BFAB46272BE&lt;/guid&gt;&#10;                    &lt;answertext&gt;100&lt;/answertext&gt;&#10;                    &lt;valuetype&gt;1&lt;/valuetype&gt;&#10;                &lt;/answer&gt;&#10;                &lt;answer&gt;&#10;                    &lt;guid&gt;03A8CED0821C48BCA86BA95B296C960C&lt;/guid&gt;&#10;                    &lt;answertext&gt;200&lt;/answertext&gt;&#10;                    &lt;valuetype&gt;-1&lt;/valuetype&gt;&#10;                &lt;/answer&gt;&#10;                &lt;answer&gt;&#10;                    &lt;guid&gt;43A899791D9643A6B475DCC24507840E&lt;/guid&gt;&#10;                    &lt;answertext&gt;0&lt;/answertext&gt;&#10;                    &lt;valuetype&gt;-1&lt;/valuetype&gt;&#10;                &lt;/answer&gt;&#10;                &lt;answer&gt;&#10;                    &lt;guid&gt;2DDE0FD280874F65A47AB7F6605B69FF&lt;/guid&gt;&#10;                    &lt;answertext&gt;Error&lt;/answertext&gt;&#10;                    &lt;valuetype&gt;-1&lt;/valuetype&gt;&#10;                &lt;/answer&gt;&#10;            &lt;/answers&gt;&#10;        &lt;/multichoice&gt;&#10;    &lt;/questions&gt;&#10;&lt;/questionlist&gt;"/>
  <p:tag name="RESULTS" val="#include&lt;stdio.h&gt;int sum(int a);int  main(){ int a=100;sum(a);printf(&quot;%d&quot;,a);}int sum(int a){   return a = a+100;}[;crlf;]2[;]3[;]2[;]False[;]1[;][;crlf;]2[;]2[;]1[;]1[;crlf;]1[;]1[;]1001[;]100[;][;crlf;]0[;]-1[;]2002[;]200[;][;crlf;]1[;]-1[;]03[;]0[;][;crlf;]0[;]-1[;]Error4[;]Error[;]"/>
  <p:tag name="LIVECHARTING" val="False"/>
  <p:tag name="AUTOOPENPOLL" val="True"/>
  <p:tag name="AUTOFORMATCHART" val="True"/>
  <p:tag name="HASRESULTS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COLORTYPE" val="SCHEME"/>
  <p:tag name="DEFINEDCOLORS" val="3,6,10,45,32,50,13,4,9,55,1"/>
  <p:tag name="NUMBERFORMAT" val="0"/>
  <p:tag name="LABELFORMAT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CAI" val="True"/>
  <p:tag name="TYPE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C8EC87CEB72847EA961932E2C6E35890&lt;/guid&gt;&#10;        &lt;description /&gt;&#10;        &lt;date&gt;7/28/2016 7:55:44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2DB0EB63BEED4331B63500D8718B53C7&lt;/guid&gt;&#10;            &lt;repollguid&gt;B6F758876D7F44D89FC0DB884E04CF7F&lt;/repollguid&gt;&#10;            &lt;sourceid&gt;DE2D5AC5AD3E4DBAB2D653763B41B105&lt;/sourceid&gt;&#10;            &lt;questiontext&gt;#include&amp;lt;stdio.h&amp;gt;int sum(int a);int  main(){ int a=100;a=sum(a);printf(&quot;%d&quot;,a);}int sum(int a){   a = a+100;}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7294BF31B21341F8A4E10A7EEDF6F005&lt;/guid&gt;&#10;                    &lt;answertext&gt;100&lt;/answertext&gt;&#10;                    &lt;valuetype&gt;1&lt;/valuetype&gt;&#10;                &lt;/answer&gt;&#10;                &lt;answer&gt;&#10;                    &lt;guid&gt;150FD9F3F9ED454B8B63BBADFBE7D7F5&lt;/guid&gt;&#10;                    &lt;answertext&gt;200&lt;/answertext&gt;&#10;                    &lt;valuetype&gt;-1&lt;/valuetype&gt;&#10;                &lt;/answer&gt;&#10;                &lt;answer&gt;&#10;                    &lt;guid&gt;AE4BF718873144309449C525A73639FF&lt;/guid&gt;&#10;                    &lt;answertext&gt;0&lt;/answertext&gt;&#10;                    &lt;valuetype&gt;-1&lt;/valuetype&gt;&#10;                &lt;/answer&gt;&#10;                &lt;answer&gt;&#10;                    &lt;guid&gt;DA7F79EA1B434E6B8AC1FA20DABE0E96&lt;/guid&gt;&#10;                    &lt;answertext&gt;Error&lt;/answertext&gt;&#10;                    &lt;valuetype&gt;-1&lt;/valuetype&gt;&#10;                &lt;/answer&gt;&#10;            &lt;/answers&gt;&#10;        &lt;/multichoice&gt;&#10;    &lt;/questions&gt;&#10;&lt;/questionlist&gt;"/>
  <p:tag name="RESULTS" val="#include&lt;stdio.h&gt;int sum(int a);int  main(){ int a=100;a=sum(a);printf(&quot;%d&quot;,a);}int sum(int a){   a = a+100;}[;crlf;]2[;]3[;]2[;]False[;]1[;][;crlf;]1.5[;]1.5[;]0.5[;]0.25[;crlf;]1[;]1[;]1001[;]100[;][;crlf;]1[;]-1[;]2002[;]200[;][;crlf;]0[;]-1[;]03[;]0[;][;crlf;]0[;]-1[;]Error4[;]Error[;]"/>
  <p:tag name="LIVECHARTING" val="False"/>
  <p:tag name="AUTOOPENPOLL" val="True"/>
  <p:tag name="AUTOFORMATCHART" val="True"/>
  <p:tag name="HASRESULTS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DEFINEDCOLORS" val="3,6,10,45,32,50,13,4,9,55,1"/>
  <p:tag name="COLORTYPE" val="SCHEME"/>
  <p:tag name="LABELFORMAT" val="0"/>
  <p:tag name="NUMBERFORMAT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CAI" val="True"/>
  <p:tag name="TYP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1A86F3D3F8EE4D5EA61123893A6BD821&lt;/guid&gt;&#10;        &lt;description /&gt;&#10;        &lt;date&gt;7/28/2016 7:59:15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7026FCF739704F44B71E2CF359B8FA8E&lt;/guid&gt;&#10;            &lt;repollguid&gt;0024A6BF7BA3473E93D41430351E66EC&lt;/repollguid&gt;&#10;            &lt;sourceid&gt;751F496977D74A3DB8F4C2FF1B84EE15&lt;/sourceid&gt;&#10;            &lt;questiontext&gt;#include&amp;lt;stdio.h&amp;gt;int sum(int a){   a = a+100;  return a;}int  main(){ int a=100;a=sum(a);printf(&quot;%d&quot;,a);}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27F6F82B021843A2AF6FFAAA72ED3EA9&lt;/guid&gt;&#10;                    &lt;answertext&gt;100&lt;/answertext&gt;&#10;                    &lt;valuetype&gt;-1&lt;/valuetype&gt;&#10;                &lt;/answer&gt;&#10;                &lt;answer&gt;&#10;                    &lt;guid&gt;66628E45A2AC4D02A02278DD0D42AFB7&lt;/guid&gt;&#10;                    &lt;answertext&gt;200&lt;/answertext&gt;&#10;                    &lt;valuetype&gt;1&lt;/valuetype&gt;&#10;                &lt;/answer&gt;&#10;                &lt;answer&gt;&#10;                    &lt;guid&gt;2AEE2B1661064F3D83986A1F4960C69C&lt;/guid&gt;&#10;                    &lt;answertext&gt;0&lt;/answertext&gt;&#10;                    &lt;valuetype&gt;-1&lt;/valuetype&gt;&#10;                &lt;/answer&gt;&#10;                &lt;answer&gt;&#10;                    &lt;guid&gt;68630037DA134331B27907123F1C1CFA&lt;/guid&gt;&#10;                    &lt;answertext&gt;Error&lt;/answertext&gt;&#10;                    &lt;valuetype&gt;-1&lt;/valuetype&gt;&#10;                &lt;/answer&gt;&#10;            &lt;/answers&gt;&#10;        &lt;/multichoice&gt;&#10;    &lt;/questions&gt;&#10;&lt;/questionlist&gt;"/>
  <p:tag name="RESULTS" val="#include&lt;stdio.h&gt;int sum(int a){   a = a+100;  return a;}int  main(){ int a=100;a=sum(a);printf(&quot;%d&quot;,a);}[;crlf;]2[;]3[;]2[;]False[;]2[;][;crlf;]2[;]2[;]0[;]0[;crlf;]0[;]-1[;]1001[;]100[;][;crlf;]2[;]1[;]2002[;]200[;][;crlf;]0[;]-1[;]03[;]0[;][;crlf;]0[;]-1[;]Error4[;]Error[;]"/>
  <p:tag name="LIVECHARTING" val="False"/>
  <p:tag name="AUTOOPENPOLL" val="True"/>
  <p:tag name="AUTOFORMATCHART" val="True"/>
  <p:tag name="HASRESULTS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COLORTYPE" val="SCHEME"/>
  <p:tag name="DEFINEDCOLORS" val="3,6,10,45,32,50,13,4,9,55,1"/>
  <p:tag name="NUMBERFORMAT" val="0"/>
  <p:tag name="LABELFORMAT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CAI" val="True"/>
  <p:tag name="TYPE" val="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1514</Words>
  <Application>Microsoft Office PowerPoint</Application>
  <PresentationFormat>On-screen Show (4:3)</PresentationFormat>
  <Paragraphs>517</Paragraphs>
  <Slides>35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宋体</vt:lpstr>
      <vt:lpstr>Arial</vt:lpstr>
      <vt:lpstr>Calibri</vt:lpstr>
      <vt:lpstr>Consolas</vt:lpstr>
      <vt:lpstr>Symbol</vt:lpstr>
      <vt:lpstr>Times New Roman</vt:lpstr>
      <vt:lpstr>Wingdings</vt:lpstr>
      <vt:lpstr>Office 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#include&lt;stdio.h&gt; int sum(int a) {    a = a+100; } int  main() {  int a=100; sum(a); printf("%d",a); }</vt:lpstr>
      <vt:lpstr>#include&lt;stdio.h&gt; int sum(int a); int  main() {  int a=100; sum(a); printf("%d",a); }  int sum(int a) {    return a = a+100; } </vt:lpstr>
      <vt:lpstr>#include&lt;stdio.h&gt; int sum(int a); int  main() {  int a=100; a=sum(a); printf("%d",a); }   int sum(int a) {    a = a+100; } </vt:lpstr>
      <vt:lpstr>#include&lt;stdio.h&gt; int sum(int a) {    a = a+100;   return a; } int  main() {  int a=100; a=sum(a); printf("%d",a); }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Prince Kurumthodathu Surendran</dc:creator>
  <cp:lastModifiedBy>Srikanth Thudumu</cp:lastModifiedBy>
  <cp:revision>78</cp:revision>
  <dcterms:created xsi:type="dcterms:W3CDTF">2006-08-16T00:00:00Z</dcterms:created>
  <dcterms:modified xsi:type="dcterms:W3CDTF">2018-06-21T09:55:01Z</dcterms:modified>
</cp:coreProperties>
</file>