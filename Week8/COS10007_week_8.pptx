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</p:sldMasterIdLst>
  <p:notesMasterIdLst>
    <p:notesMasterId r:id="rId24"/>
  </p:notesMasterIdLst>
  <p:sldIdLst>
    <p:sldId id="292" r:id="rId3"/>
    <p:sldId id="31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1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F96D8-B03D-455C-A6AD-3C0FDEBC4DE5}" type="datetimeFigureOut">
              <a:rPr lang="en-IN" smtClean="0"/>
              <a:t>04-08-2018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983D4-3820-4F7D-B2CF-3C0D51346B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62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7053E-8DFE-4886-BD41-97119B65FF0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476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AU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3717" y="898635"/>
            <a:ext cx="8616566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2414" y="3178887"/>
            <a:ext cx="6858000" cy="2388859"/>
          </a:xfrm>
          <a:noFill/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5788984" y="6224261"/>
            <a:ext cx="20574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 smtClean="0">
                <a:solidFill>
                  <a:srgbClr val="000000">
                    <a:tint val="75000"/>
                  </a:srgbClr>
                </a:solidFill>
              </a:rPr>
              <a:t>CRICOS 00111D</a:t>
            </a:r>
          </a:p>
          <a:p>
            <a:pPr algn="r"/>
            <a:r>
              <a:rPr lang="en-AU" sz="800" dirty="0" smtClean="0">
                <a:solidFill>
                  <a:srgbClr val="000000">
                    <a:tint val="75000"/>
                  </a:srgbClr>
                </a:solidFill>
              </a:rPr>
              <a:t>TOID 3059</a:t>
            </a:r>
            <a:endParaRPr lang="en-AU" sz="800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594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159" y="183824"/>
            <a:ext cx="8627682" cy="1325563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159" y="1509386"/>
            <a:ext cx="8627682" cy="453668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AU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6999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159" y="1509387"/>
            <a:ext cx="4256691" cy="453668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49" y="1509387"/>
            <a:ext cx="4256692" cy="453668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AU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58159" y="183824"/>
            <a:ext cx="8627682" cy="1325563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06629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159" y="2333299"/>
            <a:ext cx="4256691" cy="372854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49" y="2333299"/>
            <a:ext cx="4256692" cy="372854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AU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58159" y="183824"/>
            <a:ext cx="8627682" cy="1325563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AU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258158" y="1509387"/>
            <a:ext cx="425669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4629149" y="1509387"/>
            <a:ext cx="425669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2754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AU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58159" y="183824"/>
            <a:ext cx="8627682" cy="1325563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6897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159" y="1177647"/>
            <a:ext cx="8618158" cy="2070050"/>
          </a:xfrm>
        </p:spPr>
        <p:txBody>
          <a:bodyPr anchor="b">
            <a:normAutofit/>
          </a:bodyPr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159" y="3335007"/>
            <a:ext cx="8618158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AU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945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AU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186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73" y="5486400"/>
            <a:ext cx="3499166" cy="1243264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A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9144000" cy="5358064"/>
          </a:xfrm>
          <a:noFill/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8709" y="5358064"/>
            <a:ext cx="5345291" cy="1499936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53769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5333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91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6697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094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6809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9085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4550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44948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3258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5541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3049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05278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25" y="1604963"/>
            <a:ext cx="4984750" cy="397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25" y="1604963"/>
            <a:ext cx="4984750" cy="397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971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697" y="6183688"/>
            <a:ext cx="1066144" cy="53778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159" y="6176963"/>
            <a:ext cx="20574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AU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2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82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6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8229600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the title text format</a:t>
            </a:r>
          </a:p>
        </p:txBody>
      </p:sp>
      <p:sp>
        <p:nvSpPr>
          <p:cNvPr id="2051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4963"/>
            <a:ext cx="8229600" cy="397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the outline text format</a:t>
            </a:r>
          </a:p>
          <a:p>
            <a:pPr lvl="1"/>
            <a:r>
              <a:rPr lang="en-US" altLang="en-US" smtClean="0"/>
              <a:t>Second Outline Level</a:t>
            </a:r>
          </a:p>
          <a:p>
            <a:pPr lvl="2"/>
            <a:r>
              <a:rPr lang="en-US" altLang="en-US" smtClean="0"/>
              <a:t>Third Outline Level</a:t>
            </a:r>
          </a:p>
          <a:p>
            <a:pPr lvl="3"/>
            <a:r>
              <a:rPr lang="en-US" altLang="en-US" smtClean="0"/>
              <a:t>Fourth Outline Level</a:t>
            </a:r>
          </a:p>
          <a:p>
            <a:pPr lvl="4"/>
            <a:r>
              <a:rPr lang="en-US" altLang="en-US" smtClean="0"/>
              <a:t>Fifth Outline Level</a:t>
            </a:r>
          </a:p>
          <a:p>
            <a:pPr lvl="4"/>
            <a:r>
              <a:rPr lang="en-US" altLang="en-US" smtClean="0"/>
              <a:t>Sixth Outline Level</a:t>
            </a:r>
          </a:p>
          <a:p>
            <a:pPr lvl="4"/>
            <a:r>
              <a:rPr lang="en-US" altLang="en-US" smtClean="0"/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417067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1258" y="1716240"/>
            <a:ext cx="8432800" cy="2085186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300"/>
              </a:lnSpc>
              <a:tabLst>
                <a:tab pos="1612900" algn="l"/>
              </a:tabLst>
            </a:pPr>
            <a:r>
              <a:rPr lang="en-US" altLang="zh-CN" sz="4800" dirty="0">
                <a:solidFill>
                  <a:schemeClr val="accent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Developing</a:t>
            </a:r>
            <a:r>
              <a:rPr lang="en-US" altLang="zh-CN" sz="36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0" dirty="0">
                <a:solidFill>
                  <a:schemeClr val="accent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Technical Software</a:t>
            </a:r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1000"/>
              </a:lnSpc>
            </a:pPr>
            <a:endParaRPr lang="en-US" altLang="zh-CN" dirty="0" smtClean="0"/>
          </a:p>
          <a:p>
            <a:pPr>
              <a:lnSpc>
                <a:spcPts val="3300"/>
              </a:lnSpc>
              <a:tabLst>
                <a:tab pos="1612900" algn="l"/>
              </a:tabLst>
            </a:pPr>
            <a:r>
              <a:rPr lang="en-IN" altLang="zh-CN" sz="28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Week </a:t>
            </a:r>
            <a:r>
              <a:rPr lang="en-IN" altLang="zh-CN" sz="28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8: Searching algorithms and </a:t>
            </a:r>
          </a:p>
          <a:p>
            <a:pPr>
              <a:lnSpc>
                <a:spcPts val="3300"/>
              </a:lnSpc>
              <a:tabLst>
                <a:tab pos="1612900" algn="l"/>
              </a:tabLst>
            </a:pPr>
            <a:r>
              <a:rPr lang="en-IN" altLang="zh-CN" sz="28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algorithm efficiency (Big O)</a:t>
            </a:r>
          </a:p>
        </p:txBody>
      </p:sp>
    </p:spTree>
    <p:extLst>
      <p:ext uri="{BB962C8B-B14F-4D97-AF65-F5344CB8AC3E}">
        <p14:creationId xmlns:p14="http://schemas.microsoft.com/office/powerpoint/2010/main" val="25088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45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AU" dirty="0" smtClean="0"/>
              <a:t>Test information – Week 9/Week 11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1676400"/>
            <a:ext cx="8153400" cy="40925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AU" sz="2200" dirty="0"/>
              <a:t>Outcome of Test: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en-AU" sz="2200" dirty="0"/>
              <a:t>Complete: Answered all questions completely with out any error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en-AU" sz="2200" dirty="0"/>
              <a:t>Fix and Resubmit: There are some minor mistakes, need to fix the error and resubmit to get the </a:t>
            </a:r>
            <a:r>
              <a:rPr lang="en-AU" sz="2200" b="1" dirty="0"/>
              <a:t>Complete</a:t>
            </a:r>
            <a:r>
              <a:rPr lang="en-AU" sz="2200" dirty="0"/>
              <a:t> status.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en-AU" sz="2200" dirty="0"/>
              <a:t>Redo: Didn’t answer </a:t>
            </a:r>
            <a:r>
              <a:rPr lang="en-AU" sz="2200" b="1" dirty="0"/>
              <a:t>all questions sufficiently enough </a:t>
            </a:r>
            <a:r>
              <a:rPr lang="en-AU" sz="2200" dirty="0"/>
              <a:t>to get the Complete or Fix and Resubmit status. Need to resit the test in week 11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94241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4400" dirty="0">
                <a:solidFill>
                  <a:srgbClr val="000000"/>
                </a:solidFill>
                <a:latin typeface="Calibri"/>
              </a:rPr>
              <a:t>Searching Arrays</a:t>
            </a:r>
          </a:p>
        </p:txBody>
      </p:sp>
      <p:sp>
        <p:nvSpPr>
          <p:cNvPr id="3" name="CustomShape 2"/>
          <p:cNvSpPr/>
          <p:nvPr/>
        </p:nvSpPr>
        <p:spPr>
          <a:xfrm>
            <a:off x="457200" y="1625600"/>
            <a:ext cx="8226425" cy="48990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/>
              <a:t>Arrays are useful for storing data, and it </a:t>
            </a:r>
            <a:r>
              <a:rPr lang="en-US" sz="2400"/>
              <a:t>often has to </a:t>
            </a:r>
            <a:r>
              <a:rPr lang="en-US" sz="2400" dirty="0"/>
              <a:t>work with large amounts of data.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/>
              <a:t>Sometime it may be necessary to de­termine whether an array contains a value that matches a certain key value. 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/>
              <a:t>Searching is the process of finding a particular element of an array.  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/>
              <a:t>There are two common searching  techniques – the simple  linear  search  technique  and  the  more  efficient  (but more complex) binary search technique.</a:t>
            </a:r>
            <a:endParaRPr lang="en-AU" sz="24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681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4400" dirty="0">
                <a:solidFill>
                  <a:srgbClr val="000000"/>
                </a:solidFill>
                <a:latin typeface="Calibri"/>
              </a:rPr>
              <a:t>Linear Search</a:t>
            </a:r>
          </a:p>
        </p:txBody>
      </p:sp>
      <p:sp>
        <p:nvSpPr>
          <p:cNvPr id="3" name="CustomShape 2"/>
          <p:cNvSpPr/>
          <p:nvPr/>
        </p:nvSpPr>
        <p:spPr>
          <a:xfrm>
            <a:off x="457200" y="1625600"/>
            <a:ext cx="8226425" cy="48990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/>
              <a:t>The linear search has a simple algorithm.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/>
              <a:t>It compares each element of the array with the search key.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/>
              <a:t>Since the array is not in any particular order, it's just as likely that the value will be found  in the first element as in the last.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/>
              <a:t>On  average, the program  will have to compare  the search key with half the elements of the array.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/>
              <a:t>It can be used for linked-list also.</a:t>
            </a:r>
          </a:p>
          <a:p>
            <a:pPr marL="342900" indent="-342900">
              <a:defRPr/>
            </a:pP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1043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CustomShape 1"/>
          <p:cNvSpPr/>
          <p:nvPr/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2" name="CustomShape 2"/>
          <p:cNvSpPr/>
          <p:nvPr/>
        </p:nvSpPr>
        <p:spPr>
          <a:xfrm>
            <a:off x="457200" y="1600200"/>
            <a:ext cx="8226425" cy="50688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/>
              <a:t>In general, a linear search will loop to walk over every item in the list (array or linked-list), with a test to see if the current item in the list matches the search key.</a:t>
            </a:r>
          </a:p>
          <a:p>
            <a:pPr marL="342900" indent="-342900">
              <a:defRPr/>
            </a:pPr>
            <a:endParaRPr lang="en-US" sz="2000" dirty="0"/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/>
              <a:t>The loop can terminate in one of two ways:</a:t>
            </a:r>
          </a:p>
          <a:p>
            <a:pPr marL="971550" lvl="1" indent="-514350">
              <a:buFont typeface="Arial" pitchFamily="34" charset="0"/>
              <a:buAutoNum type="romanLcPeriod"/>
              <a:defRPr/>
            </a:pPr>
            <a:r>
              <a:rPr lang="en-US" sz="2000" dirty="0"/>
              <a:t>If it reaches the end of the list, the loop condition fails.</a:t>
            </a:r>
          </a:p>
          <a:p>
            <a:pPr marL="971550" lvl="1" indent="-514350">
              <a:buFont typeface="Arial" pitchFamily="34" charset="0"/>
              <a:buAutoNum type="romanLcPeriod"/>
              <a:defRPr/>
            </a:pPr>
            <a:r>
              <a:rPr lang="en-US" sz="2000" dirty="0"/>
              <a:t>If the current item in the list matches the key, the loop is terminated early with a break statement.</a:t>
            </a:r>
          </a:p>
          <a:p>
            <a:pPr marL="342900" indent="-342900">
              <a:defRPr/>
            </a:pPr>
            <a:endParaRPr lang="en-US" sz="2000" dirty="0"/>
          </a:p>
          <a:p>
            <a:pPr marL="342900" indent="-342900">
              <a:defRPr/>
            </a:pPr>
            <a:r>
              <a:rPr lang="en-US" sz="2000" dirty="0"/>
              <a:t>Note that:</a:t>
            </a:r>
          </a:p>
          <a:p>
            <a:pPr marL="342900" indent="-342900">
              <a:buFont typeface="Arial" pitchFamily="34" charset="0"/>
              <a:buAutoNum type="arabicPeriod"/>
              <a:defRPr/>
            </a:pPr>
            <a:r>
              <a:rPr lang="en-US" sz="2000" dirty="0"/>
              <a:t>All search routines return a true/false value for success or failure.</a:t>
            </a:r>
          </a:p>
          <a:p>
            <a:pPr marL="342900" indent="-342900">
              <a:buFont typeface="Arial" pitchFamily="34" charset="0"/>
              <a:buAutoNum type="arabicPeriod"/>
              <a:defRPr/>
            </a:pPr>
            <a:r>
              <a:rPr lang="en-US" sz="2000" dirty="0"/>
              <a:t>The list will be either an array of integers or a linked list of integers with a key.</a:t>
            </a:r>
          </a:p>
          <a:p>
            <a:pPr marL="342900" indent="-342900">
              <a:buFont typeface="Arial" pitchFamily="34" charset="0"/>
              <a:buAutoNum type="arabicPeriod"/>
              <a:defRPr/>
            </a:pPr>
            <a:r>
              <a:rPr lang="en-US" sz="2000" dirty="0"/>
              <a:t>The found item will be saved (e.g. in a reference to a pointer) for use in other parts of the code.</a:t>
            </a:r>
          </a:p>
        </p:txBody>
      </p:sp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4400" dirty="0">
                <a:solidFill>
                  <a:srgbClr val="000000"/>
                </a:solidFill>
                <a:latin typeface="Calibri" pitchFamily="34" charset="0"/>
              </a:rPr>
              <a:t>Linear Search – How it works </a:t>
            </a:r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6244537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CustomShape 1"/>
          <p:cNvSpPr/>
          <p:nvPr/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CustomShape 2"/>
          <p:cNvSpPr/>
          <p:nvPr/>
        </p:nvSpPr>
        <p:spPr>
          <a:xfrm>
            <a:off x="457200" y="1600200"/>
            <a:ext cx="8226425" cy="50688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err="1">
                <a:latin typeface="Consolas"/>
              </a:rPr>
              <a:t>int</a:t>
            </a:r>
            <a:r>
              <a:rPr lang="en-US" sz="2800" dirty="0">
                <a:latin typeface="Consolas"/>
              </a:rPr>
              <a:t> </a:t>
            </a:r>
            <a:r>
              <a:rPr lang="en-US" sz="2800" dirty="0" err="1">
                <a:latin typeface="Consolas"/>
              </a:rPr>
              <a:t>linearSearch</a:t>
            </a:r>
            <a:r>
              <a:rPr lang="en-US" sz="2800" dirty="0">
                <a:latin typeface="Consolas"/>
              </a:rPr>
              <a:t>(</a:t>
            </a:r>
            <a:r>
              <a:rPr lang="en-US" sz="2800" dirty="0" err="1">
                <a:latin typeface="Consolas"/>
              </a:rPr>
              <a:t>const</a:t>
            </a:r>
            <a:r>
              <a:rPr lang="en-US" sz="2800" dirty="0">
                <a:latin typeface="Consolas"/>
              </a:rPr>
              <a:t> </a:t>
            </a:r>
            <a:r>
              <a:rPr lang="en-US" sz="2800" dirty="0" err="1">
                <a:latin typeface="Consolas"/>
              </a:rPr>
              <a:t>int</a:t>
            </a:r>
            <a:r>
              <a:rPr lang="en-US" sz="2800" dirty="0">
                <a:latin typeface="Consolas"/>
              </a:rPr>
              <a:t> array[], </a:t>
            </a:r>
            <a:r>
              <a:rPr lang="en-US" sz="2800" dirty="0" err="1">
                <a:latin typeface="Consolas"/>
              </a:rPr>
              <a:t>int</a:t>
            </a:r>
            <a:r>
              <a:rPr lang="en-US" sz="2800" dirty="0">
                <a:latin typeface="Consolas"/>
              </a:rPr>
              <a:t> key, </a:t>
            </a:r>
            <a:r>
              <a:rPr lang="en-US" sz="2800" dirty="0" err="1">
                <a:latin typeface="Consolas"/>
              </a:rPr>
              <a:t>int</a:t>
            </a:r>
            <a:r>
              <a:rPr lang="en-US" sz="2800" dirty="0">
                <a:latin typeface="Consolas"/>
              </a:rPr>
              <a:t> size){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Consolas"/>
              </a:rPr>
              <a:t>	</a:t>
            </a:r>
            <a:r>
              <a:rPr lang="en-US" sz="2800" dirty="0" err="1">
                <a:latin typeface="Consolas"/>
              </a:rPr>
              <a:t>int</a:t>
            </a:r>
            <a:r>
              <a:rPr lang="en-US" sz="2800" dirty="0">
                <a:latin typeface="Consolas"/>
              </a:rPr>
              <a:t> </a:t>
            </a:r>
            <a:r>
              <a:rPr lang="en-US" sz="2800" dirty="0" err="1">
                <a:latin typeface="Consolas"/>
              </a:rPr>
              <a:t>i</a:t>
            </a:r>
            <a:r>
              <a:rPr lang="en-US" sz="2800" dirty="0">
                <a:latin typeface="Consolas"/>
              </a:rPr>
              <a:t>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>
              <a:latin typeface="Consola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Consolas"/>
              </a:rPr>
              <a:t>	for ( </a:t>
            </a:r>
            <a:r>
              <a:rPr lang="en-US" sz="2800" dirty="0" err="1">
                <a:latin typeface="Consolas"/>
              </a:rPr>
              <a:t>i</a:t>
            </a:r>
            <a:r>
              <a:rPr lang="en-US" sz="2800" dirty="0">
                <a:latin typeface="Consolas"/>
              </a:rPr>
              <a:t> = 0; </a:t>
            </a:r>
            <a:r>
              <a:rPr lang="en-US" sz="2800" dirty="0" err="1">
                <a:latin typeface="Consolas"/>
              </a:rPr>
              <a:t>i</a:t>
            </a:r>
            <a:r>
              <a:rPr lang="en-US" sz="2800" dirty="0">
                <a:latin typeface="Consolas"/>
              </a:rPr>
              <a:t> &lt; size; i++ ){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Consolas"/>
              </a:rPr>
              <a:t> 		if (array[</a:t>
            </a:r>
            <a:r>
              <a:rPr lang="en-US" sz="2800" dirty="0" err="1">
                <a:latin typeface="Consolas"/>
              </a:rPr>
              <a:t>i</a:t>
            </a:r>
            <a:r>
              <a:rPr lang="en-US" sz="2800" dirty="0">
                <a:latin typeface="Consolas"/>
              </a:rPr>
              <a:t>] == key ){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Consolas"/>
              </a:rPr>
              <a:t>			return </a:t>
            </a:r>
            <a:r>
              <a:rPr lang="en-US" sz="2800" dirty="0" err="1">
                <a:latin typeface="Consolas"/>
              </a:rPr>
              <a:t>i</a:t>
            </a:r>
            <a:r>
              <a:rPr lang="en-US" sz="2800" dirty="0">
                <a:latin typeface="Consolas"/>
              </a:rPr>
              <a:t>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Consolas"/>
              </a:rPr>
              <a:t> 		}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Consolas"/>
              </a:rPr>
              <a:t> 	}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>
              <a:latin typeface="Consola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Consolas"/>
              </a:rPr>
              <a:t> 	return -1;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Consolas"/>
              </a:rPr>
              <a:t>}</a:t>
            </a:r>
          </a:p>
        </p:txBody>
      </p:sp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4000" dirty="0">
                <a:solidFill>
                  <a:srgbClr val="000000"/>
                </a:solidFill>
                <a:latin typeface="Calibri" pitchFamily="34" charset="0"/>
              </a:rPr>
              <a:t>Linear Search – implementation in C</a:t>
            </a:r>
            <a:endParaRPr lang="en-US" sz="1600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9781918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CustomShape 1"/>
          <p:cNvSpPr/>
          <p:nvPr/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8" name="CustomShape 2"/>
          <p:cNvSpPr/>
          <p:nvPr/>
        </p:nvSpPr>
        <p:spPr>
          <a:xfrm>
            <a:off x="457200" y="1571625"/>
            <a:ext cx="8226425" cy="50260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eaLnBrk="1" hangingPunct="1">
              <a:defRPr/>
            </a:pPr>
            <a:endParaRPr lang="en-AU" sz="2400">
              <a:latin typeface="Calibri" pitchFamily="34" charset="0"/>
            </a:endParaRPr>
          </a:p>
          <a:p>
            <a:pPr eaLnBrk="1" hangingPunct="1">
              <a:defRPr/>
            </a:pPr>
            <a:r>
              <a:rPr lang="en-AU" sz="2400">
                <a:latin typeface="Calibri" pitchFamily="34" charset="0"/>
              </a:rPr>
              <a:t>	8  6  10  3  1  2  5  4 </a:t>
            </a:r>
          </a:p>
          <a:p>
            <a:pPr eaLnBrk="1" hangingPunct="1">
              <a:defRPr/>
            </a:pPr>
            <a:endParaRPr lang="en-AU" sz="2400">
              <a:solidFill>
                <a:srgbClr val="FF0000"/>
              </a:solidFill>
              <a:latin typeface="Calibri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AU" sz="2400"/>
              <a:t>Assuming the above array passed to the function for searching two keys: 10 and 15 respectively</a:t>
            </a:r>
          </a:p>
          <a:p>
            <a:pPr eaLnBrk="1" hangingPunct="1">
              <a:defRPr/>
            </a:pPr>
            <a:endParaRPr lang="en-AU" sz="2400">
              <a:latin typeface="Calibri" pitchFamily="34" charset="0"/>
            </a:endParaRPr>
          </a:p>
          <a:p>
            <a:pPr eaLnBrk="1" hangingPunct="1">
              <a:defRPr/>
            </a:pPr>
            <a:r>
              <a:rPr lang="en-US" sz="2400">
                <a:latin typeface="Calibri" pitchFamily="34" charset="0"/>
              </a:rPr>
              <a:t>Enter   integer   search  key: 10</a:t>
            </a:r>
          </a:p>
          <a:p>
            <a:pPr eaLnBrk="1" hangingPunct="1">
              <a:defRPr/>
            </a:pPr>
            <a:r>
              <a:rPr lang="en-US" sz="2400">
                <a:latin typeface="Calibri" pitchFamily="34" charset="0"/>
              </a:rPr>
              <a:t>Found value   in  element   3</a:t>
            </a: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r>
              <a:rPr lang="en-US" sz="2400">
                <a:latin typeface="Calibri" pitchFamily="34" charset="0"/>
              </a:rPr>
              <a:t>Enter   integer   search  key: 15</a:t>
            </a:r>
          </a:p>
          <a:p>
            <a:pPr eaLnBrk="1" hangingPunct="1">
              <a:defRPr/>
            </a:pPr>
            <a:r>
              <a:rPr lang="en-US" sz="2400">
                <a:latin typeface="Calibri" pitchFamily="34" charset="0"/>
              </a:rPr>
              <a:t>Value  not  found</a:t>
            </a:r>
          </a:p>
          <a:p>
            <a:pPr eaLnBrk="1" hangingPunct="1">
              <a:defRPr/>
            </a:pPr>
            <a:endParaRPr lang="en-US"/>
          </a:p>
        </p:txBody>
      </p:sp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4400">
                <a:solidFill>
                  <a:srgbClr val="000000"/>
                </a:solidFill>
                <a:latin typeface="Calibri" pitchFamily="34" charset="0"/>
              </a:rPr>
              <a:t>Linear Search – output</a:t>
            </a:r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1766975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3600">
                <a:solidFill>
                  <a:srgbClr val="000000"/>
                </a:solidFill>
                <a:latin typeface="Calibri" pitchFamily="34" charset="0"/>
              </a:rPr>
              <a:t>Linear Search – algorithm efficiency (Big O)</a:t>
            </a:r>
            <a:endParaRPr lang="en-US" sz="1400"/>
          </a:p>
        </p:txBody>
      </p:sp>
      <p:sp>
        <p:nvSpPr>
          <p:cNvPr id="24579" name="Subtitle 2"/>
          <p:cNvSpPr>
            <a:spLocks noGrp="1"/>
          </p:cNvSpPr>
          <p:nvPr>
            <p:ph type="subTitle"/>
          </p:nvPr>
        </p:nvSpPr>
        <p:spPr>
          <a:xfrm>
            <a:off x="457200" y="1916113"/>
            <a:ext cx="8229600" cy="4608512"/>
          </a:xfrm>
        </p:spPr>
        <p:txBody>
          <a:bodyPr/>
          <a:lstStyle/>
          <a:p>
            <a:pPr marL="457200" indent="-457200" algn="l" eaLnBrk="1" hangingPunct="1">
              <a:buFontTx/>
              <a:buChar char="•"/>
              <a:defRPr/>
            </a:pPr>
            <a:r>
              <a:rPr lang="en-US" altLang="en-US" sz="3200" dirty="0" smtClean="0">
                <a:solidFill>
                  <a:schemeClr val="tx1"/>
                </a:solidFill>
                <a:latin typeface="Calibri" pitchFamily="34" charset="0"/>
              </a:rPr>
              <a:t>Loop through array for n times - to walk over every item in the array</a:t>
            </a:r>
          </a:p>
          <a:p>
            <a:pPr marL="457200" indent="-457200" algn="l" eaLnBrk="1" hangingPunct="1">
              <a:buFontTx/>
              <a:buChar char="•"/>
              <a:defRPr/>
            </a:pPr>
            <a:r>
              <a:rPr lang="en-US" altLang="en-US" sz="3200" dirty="0" smtClean="0">
                <a:solidFill>
                  <a:schemeClr val="tx1"/>
                </a:solidFill>
                <a:latin typeface="Calibri" pitchFamily="34" charset="0"/>
                <a:ea typeface="DejaVu Sans"/>
                <a:cs typeface="DejaVu Sans"/>
              </a:rPr>
              <a:t>The comparison is always performed</a:t>
            </a:r>
          </a:p>
          <a:p>
            <a:pPr marL="457200" indent="-457200" algn="l" eaLnBrk="1" hangingPunct="1">
              <a:buFontTx/>
              <a:buChar char="•"/>
              <a:defRPr/>
            </a:pPr>
            <a:r>
              <a:rPr lang="en-AU" altLang="en-US" sz="3200" dirty="0" smtClean="0">
                <a:solidFill>
                  <a:schemeClr val="tx1"/>
                </a:solidFill>
                <a:latin typeface="Calibri" pitchFamily="34" charset="0"/>
              </a:rPr>
              <a:t>=&gt; Worst case </a:t>
            </a:r>
            <a:r>
              <a:rPr lang="en-AU" sz="3200" kern="1200" dirty="0" smtClean="0">
                <a:solidFill>
                  <a:schemeClr val="tx1"/>
                </a:solidFill>
                <a:latin typeface="Calibri" pitchFamily="34" charset="0"/>
              </a:rPr>
              <a:t>performance </a:t>
            </a:r>
            <a:r>
              <a:rPr lang="en-AU" altLang="en-US" sz="3200" dirty="0" smtClean="0">
                <a:solidFill>
                  <a:schemeClr val="tx1"/>
                </a:solidFill>
                <a:latin typeface="Calibri" pitchFamily="34" charset="0"/>
              </a:rPr>
              <a:t>O(n)</a:t>
            </a: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AU" sz="3200" kern="1200" dirty="0" smtClean="0">
              <a:solidFill>
                <a:schemeClr val="tx1"/>
              </a:solidFill>
              <a:latin typeface="Calibri" pitchFamily="34" charset="0"/>
            </a:endParaRP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AU" sz="3200" kern="1200" dirty="0" smtClean="0">
                <a:solidFill>
                  <a:schemeClr val="tx1"/>
                </a:solidFill>
                <a:latin typeface="Calibri" pitchFamily="34" charset="0"/>
              </a:rPr>
              <a:t>Best </a:t>
            </a:r>
            <a:r>
              <a:rPr lang="en-AU" sz="3200" kern="1200" dirty="0">
                <a:solidFill>
                  <a:schemeClr val="tx1"/>
                </a:solidFill>
                <a:latin typeface="Calibri" pitchFamily="34" charset="0"/>
              </a:rPr>
              <a:t>case performance O(1</a:t>
            </a:r>
            <a:r>
              <a:rPr lang="en-AU" sz="3200" kern="1200" dirty="0" smtClean="0">
                <a:solidFill>
                  <a:schemeClr val="tx1"/>
                </a:solidFill>
                <a:latin typeface="Calibri" pitchFamily="34" charset="0"/>
              </a:rPr>
              <a:t>)</a:t>
            </a:r>
            <a:endParaRPr lang="en-AU" sz="3200" kern="1200" dirty="0">
              <a:solidFill>
                <a:schemeClr val="tx1"/>
              </a:solidFill>
              <a:latin typeface="Calibri" pitchFamily="34" charset="0"/>
            </a:endParaRP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AU" sz="3200" kern="1200" dirty="0" smtClean="0">
              <a:solidFill>
                <a:schemeClr val="tx1"/>
              </a:solidFill>
              <a:latin typeface="Calibri" pitchFamily="34" charset="0"/>
            </a:endParaRP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AU" sz="3200" kern="1200" dirty="0" smtClean="0">
                <a:solidFill>
                  <a:schemeClr val="tx1"/>
                </a:solidFill>
                <a:latin typeface="Calibri" pitchFamily="34" charset="0"/>
              </a:rPr>
              <a:t>Average </a:t>
            </a:r>
            <a:r>
              <a:rPr lang="en-AU" sz="3200" kern="1200" dirty="0">
                <a:solidFill>
                  <a:schemeClr val="tx1"/>
                </a:solidFill>
                <a:latin typeface="Calibri" pitchFamily="34" charset="0"/>
              </a:rPr>
              <a:t>case performance </a:t>
            </a:r>
            <a:r>
              <a:rPr lang="en-AU" sz="3200" kern="1200" dirty="0" smtClean="0">
                <a:solidFill>
                  <a:schemeClr val="tx1"/>
                </a:solidFill>
                <a:latin typeface="Calibri" pitchFamily="34" charset="0"/>
              </a:rPr>
              <a:t>O(n</a:t>
            </a:r>
            <a:r>
              <a:rPr lang="en-AU" sz="3200" kern="1200" dirty="0">
                <a:solidFill>
                  <a:schemeClr val="tx1"/>
                </a:solidFill>
                <a:latin typeface="Calibri" pitchFamily="34" charset="0"/>
              </a:rPr>
              <a:t>)</a:t>
            </a:r>
          </a:p>
          <a:p>
            <a:pPr marL="457200" indent="-457200" algn="l" eaLnBrk="1" hangingPunct="1">
              <a:buFontTx/>
              <a:buChar char="•"/>
              <a:defRPr/>
            </a:pPr>
            <a:endParaRPr lang="en-AU" altLang="en-US" sz="3200" dirty="0" smtClean="0">
              <a:solidFill>
                <a:schemeClr val="tx1"/>
              </a:solidFill>
              <a:latin typeface="Calibri" pitchFamily="34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0159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4400" dirty="0">
                <a:solidFill>
                  <a:srgbClr val="000000"/>
                </a:solidFill>
                <a:latin typeface="Calibri"/>
              </a:rPr>
              <a:t>Searching from 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a sorted list</a:t>
            </a:r>
            <a:r>
              <a:rPr lang="en-AU" sz="4400" dirty="0">
                <a:solidFill>
                  <a:srgbClr val="000000"/>
                </a:solidFill>
                <a:latin typeface="Calibri"/>
              </a:rPr>
              <a:t> </a:t>
            </a:r>
          </a:p>
        </p:txBody>
      </p:sp>
      <p:sp>
        <p:nvSpPr>
          <p:cNvPr id="3" name="CustomShape 2"/>
          <p:cNvSpPr/>
          <p:nvPr/>
        </p:nvSpPr>
        <p:spPr>
          <a:xfrm>
            <a:off x="457200" y="1625600"/>
            <a:ext cx="8226425" cy="48990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7200" indent="-457200" eaLnBrk="1" hangingPunct="1">
              <a:buFont typeface="Arial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The  linear searching method  works well for small or unsorted  arrays, but it is inefficient for large arrays.</a:t>
            </a:r>
          </a:p>
          <a:p>
            <a:pPr marL="457200" indent="-457200" eaLnBrk="1" hangingPunct="1">
              <a:buFont typeface="Arial" pitchFamily="34" charset="0"/>
              <a:buChar char="•"/>
              <a:defRPr/>
            </a:pPr>
            <a:endParaRPr lang="en-US" sz="2400" dirty="0">
              <a:latin typeface="Calibri" pitchFamily="34" charset="0"/>
            </a:endParaRPr>
          </a:p>
          <a:p>
            <a:pPr marL="457200" indent="-457200" eaLnBrk="1" hangingPunct="1">
              <a:buFont typeface="Arial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If the array is sorted, the high-speed  binary search technique can be used.</a:t>
            </a:r>
          </a:p>
          <a:p>
            <a:pPr marL="457200" indent="-457200" eaLnBrk="1" hangingPunct="1">
              <a:buFont typeface="Arial" pitchFamily="34" charset="0"/>
              <a:buChar char="•"/>
              <a:defRPr/>
            </a:pPr>
            <a:endParaRPr lang="en-AU" sz="2400" dirty="0">
              <a:latin typeface="Calibri" pitchFamily="34" charset="0"/>
            </a:endParaRPr>
          </a:p>
          <a:p>
            <a:pPr marL="457200" indent="-457200" eaLnBrk="1" hangingPunct="1">
              <a:buFont typeface="Arial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Searching a sorted collection is a common task. Imagine:</a:t>
            </a:r>
          </a:p>
          <a:p>
            <a:pPr marL="914400" lvl="1" indent="-457200" eaLnBrk="1" hangingPunct="1">
              <a:buFont typeface="Arial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A dictionary is a sorted list of word definitions. Given a word, one can find its definition.</a:t>
            </a:r>
          </a:p>
          <a:p>
            <a:pPr marL="914400" lvl="1" indent="-457200" eaLnBrk="1" hangingPunct="1">
              <a:buFont typeface="Arial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A telephone book is a sorted list of people's names, addresses, and telephone numbers. Knowing someone's name allows one to quickly find their telephone number and </a:t>
            </a:r>
            <a:r>
              <a:rPr lang="en-AU" sz="2400" dirty="0">
                <a:latin typeface="Calibri" pitchFamily="34" charset="0"/>
              </a:rPr>
              <a:t>address.</a:t>
            </a:r>
            <a:r>
              <a:rPr lang="en-US" sz="2400" dirty="0">
                <a:latin typeface="Calibri" pitchFamily="34" charset="0"/>
              </a:rPr>
              <a:t> </a:t>
            </a:r>
            <a:endParaRPr lang="en-AU" sz="2400" dirty="0">
              <a:latin typeface="Calibri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260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4400" dirty="0">
                <a:solidFill>
                  <a:srgbClr val="000000"/>
                </a:solidFill>
                <a:latin typeface="Calibri"/>
              </a:rPr>
              <a:t>Binary Search</a:t>
            </a:r>
          </a:p>
        </p:txBody>
      </p:sp>
      <p:sp>
        <p:nvSpPr>
          <p:cNvPr id="3" name="CustomShape 2"/>
          <p:cNvSpPr/>
          <p:nvPr/>
        </p:nvSpPr>
        <p:spPr>
          <a:xfrm>
            <a:off x="457200" y="1625600"/>
            <a:ext cx="8226425" cy="48990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7200" indent="-457200" eaLnBrk="1" hangingPunct="1">
              <a:buFont typeface="Arial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The binary search algorithm finds the position of a specified input value i.e. a search key, within an array sorted </a:t>
            </a:r>
            <a:r>
              <a:rPr lang="en-AU" sz="2400" dirty="0">
                <a:latin typeface="Calibri" pitchFamily="34" charset="0"/>
              </a:rPr>
              <a:t>by key value.</a:t>
            </a:r>
            <a:endParaRPr lang="en-US" sz="2400" dirty="0">
              <a:latin typeface="Calibri" pitchFamily="34" charset="0"/>
            </a:endParaRPr>
          </a:p>
          <a:p>
            <a:pPr marL="457200" indent="-457200" eaLnBrk="1" hangingPunct="1">
              <a:buFont typeface="Arial" pitchFamily="34" charset="0"/>
              <a:buChar char="•"/>
              <a:defRPr/>
            </a:pPr>
            <a:endParaRPr lang="en-US" sz="2400" dirty="0">
              <a:latin typeface="Calibri" pitchFamily="34" charset="0"/>
            </a:endParaRPr>
          </a:p>
          <a:p>
            <a:pPr marL="457200" indent="-457200" eaLnBrk="1" hangingPunct="1">
              <a:buFont typeface="Arial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It eliminates from consideration one-half of the elements in a sorted array after each comparison.</a:t>
            </a:r>
          </a:p>
          <a:p>
            <a:pPr>
              <a:defRPr/>
            </a:pPr>
            <a:endParaRPr lang="en-AU" sz="24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sz="2400" dirty="0"/>
              <a:t> </a:t>
            </a:r>
            <a:endParaRPr lang="en-AU" sz="24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293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CustomShape 1"/>
          <p:cNvSpPr/>
          <p:nvPr/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2" name="CustomShape 2"/>
          <p:cNvSpPr/>
          <p:nvPr/>
        </p:nvSpPr>
        <p:spPr>
          <a:xfrm>
            <a:off x="457200" y="1600200"/>
            <a:ext cx="8226425" cy="50688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 lnSpcReduction="10000"/>
          </a:bodyPr>
          <a:lstStyle/>
          <a:p>
            <a:pPr marL="457200" indent="-457200" eaLnBrk="1" hangingPunct="1">
              <a:buFont typeface="Arial" pitchFamily="34" charset="0"/>
              <a:buChar char="•"/>
              <a:defRPr/>
            </a:pPr>
            <a:r>
              <a:rPr lang="en-AU" sz="2400" dirty="0">
                <a:latin typeface="Calibri" pitchFamily="34" charset="0"/>
              </a:rPr>
              <a:t>The algorithm locates the middle element of the array and compares it to the search key.</a:t>
            </a:r>
          </a:p>
          <a:p>
            <a:pPr marL="914400" lvl="1" indent="-457200" eaLnBrk="1" hangingPunct="1">
              <a:buFont typeface="Arial" pitchFamily="34" charset="0"/>
              <a:buChar char="•"/>
              <a:defRPr/>
            </a:pPr>
            <a:r>
              <a:rPr lang="en-AU" sz="2400" dirty="0">
                <a:latin typeface="Calibri" pitchFamily="34" charset="0"/>
              </a:rPr>
              <a:t>If they are equal, the search key is found and the array subscript of that element is returned.</a:t>
            </a:r>
          </a:p>
          <a:p>
            <a:pPr marL="914400" lvl="1" indent="-457200" eaLnBrk="1" hangingPunct="1">
              <a:buFont typeface="Arial" pitchFamily="34" charset="0"/>
              <a:buChar char="•"/>
              <a:defRPr/>
            </a:pPr>
            <a:r>
              <a:rPr lang="en-AU" sz="2400" dirty="0">
                <a:latin typeface="Calibri" pitchFamily="34" charset="0"/>
              </a:rPr>
              <a:t>If they are not equal, the problem is reduced to searching </a:t>
            </a:r>
            <a:r>
              <a:rPr lang="en-AU" sz="2400" i="1" dirty="0">
                <a:latin typeface="Calibri" pitchFamily="34" charset="0"/>
              </a:rPr>
              <a:t>one-half of the array</a:t>
            </a:r>
            <a:r>
              <a:rPr lang="en-AU" sz="2400" dirty="0">
                <a:latin typeface="Calibri" pitchFamily="34" charset="0"/>
              </a:rPr>
              <a:t>.</a:t>
            </a:r>
          </a:p>
          <a:p>
            <a:pPr marL="1371600" lvl="2" indent="-457200" eaLnBrk="1" hangingPunct="1">
              <a:buFont typeface="Arial" pitchFamily="34" charset="0"/>
              <a:buChar char="•"/>
              <a:defRPr/>
            </a:pPr>
            <a:r>
              <a:rPr lang="en-AU" sz="2400" dirty="0">
                <a:latin typeface="Calibri" pitchFamily="34" charset="0"/>
              </a:rPr>
              <a:t>If the search key is less than the middle element of the array, the first half of the array is searched;</a:t>
            </a:r>
          </a:p>
          <a:p>
            <a:pPr marL="1371600" lvl="2" indent="-457200" eaLnBrk="1" hangingPunct="1">
              <a:buFont typeface="Arial" pitchFamily="34" charset="0"/>
              <a:buChar char="•"/>
              <a:defRPr/>
            </a:pPr>
            <a:r>
              <a:rPr lang="en-AU" sz="2400" dirty="0">
                <a:latin typeface="Calibri" pitchFamily="34" charset="0"/>
              </a:rPr>
              <a:t>Otherwise the second half of the array is searched.</a:t>
            </a:r>
          </a:p>
          <a:p>
            <a:pPr marL="1371600" lvl="2" indent="-457200" eaLnBrk="1" hangingPunct="1">
              <a:buFont typeface="Arial" pitchFamily="34" charset="0"/>
              <a:buChar char="•"/>
              <a:defRPr/>
            </a:pPr>
            <a:r>
              <a:rPr lang="en-AU" sz="2400" dirty="0">
                <a:latin typeface="Calibri" pitchFamily="34" charset="0"/>
              </a:rPr>
              <a:t>If the search key is not found in the specified subarray (piece of the original array), the algorithm is repeated on </a:t>
            </a:r>
            <a:r>
              <a:rPr lang="en-AU" sz="2400" i="1" dirty="0">
                <a:latin typeface="Calibri" pitchFamily="34" charset="0"/>
              </a:rPr>
              <a:t>one-quarter of the original array</a:t>
            </a:r>
            <a:r>
              <a:rPr lang="en-AU" sz="2400" dirty="0">
                <a:latin typeface="Calibri" pitchFamily="34" charset="0"/>
              </a:rPr>
              <a:t>.</a:t>
            </a:r>
          </a:p>
          <a:p>
            <a:pPr marL="457200" indent="-457200" eaLnBrk="1" hangingPunct="1">
              <a:buFont typeface="Arial" pitchFamily="34" charset="0"/>
              <a:buChar char="•"/>
              <a:defRPr/>
            </a:pPr>
            <a:r>
              <a:rPr lang="en-AU" sz="2400" dirty="0">
                <a:latin typeface="Calibri" pitchFamily="34" charset="0"/>
              </a:rPr>
              <a:t>The search continues until the search key is equal to the middle element of a subarray, or until the subarray consists of one element that is not equal to the search key (i.e., the search key is not found).</a:t>
            </a:r>
          </a:p>
          <a:p>
            <a:pPr marL="457200" indent="-457200" eaLnBrk="1" hangingPunct="1">
              <a:buFont typeface="Arial" pitchFamily="34" charset="0"/>
              <a:buChar char="•"/>
              <a:defRPr/>
            </a:pPr>
            <a:endParaRPr lang="en-US" sz="2400" dirty="0">
              <a:latin typeface="Calibri" pitchFamily="34" charset="0"/>
            </a:endParaRPr>
          </a:p>
        </p:txBody>
      </p:sp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4400">
                <a:solidFill>
                  <a:srgbClr val="000000"/>
                </a:solidFill>
                <a:latin typeface="Calibri" pitchFamily="34" charset="0"/>
              </a:rPr>
              <a:t>Binary Search – How it works </a:t>
            </a:r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992120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CustomShape 1"/>
          <p:cNvSpPr/>
          <p:nvPr/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CustomShape 2"/>
          <p:cNvSpPr/>
          <p:nvPr/>
        </p:nvSpPr>
        <p:spPr>
          <a:xfrm>
            <a:off x="457200" y="1414463"/>
            <a:ext cx="8226425" cy="52546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defRPr/>
            </a:pPr>
            <a:r>
              <a:rPr lang="en-AU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AU" dirty="0" err="1">
                <a:latin typeface="Consolas" panose="020B0609020204030204" pitchFamily="49" charset="0"/>
                <a:cs typeface="Consolas" panose="020B0609020204030204" pitchFamily="49" charset="0"/>
              </a:rPr>
              <a:t>binarySearch</a:t>
            </a: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AU" dirty="0" err="1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AU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 b[], </a:t>
            </a:r>
            <a:r>
              <a:rPr lang="en-AU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AU" dirty="0" err="1">
                <a:latin typeface="Consolas" panose="020B0609020204030204" pitchFamily="49" charset="0"/>
                <a:cs typeface="Consolas" panose="020B0609020204030204" pitchFamily="49" charset="0"/>
              </a:rPr>
              <a:t>searchKey</a:t>
            </a: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AU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 low, </a:t>
            </a:r>
            <a:r>
              <a:rPr lang="en-AU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 high)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AU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  middle;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while (low &lt;= high) {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	middle = (low + high)/2;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	if (</a:t>
            </a:r>
            <a:r>
              <a:rPr lang="en-AU" dirty="0" err="1">
                <a:latin typeface="Consolas" panose="020B0609020204030204" pitchFamily="49" charset="0"/>
                <a:cs typeface="Consolas" panose="020B0609020204030204" pitchFamily="49" charset="0"/>
              </a:rPr>
              <a:t>searchKey</a:t>
            </a: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 == b[middle] ) {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		return middle;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	else if (</a:t>
            </a:r>
            <a:r>
              <a:rPr lang="en-AU" dirty="0" err="1">
                <a:latin typeface="Consolas" panose="020B0609020204030204" pitchFamily="49" charset="0"/>
                <a:cs typeface="Consolas" panose="020B0609020204030204" pitchFamily="49" charset="0"/>
              </a:rPr>
              <a:t>searchKey</a:t>
            </a: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 &lt; b[middle]) {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		high = middle - 1;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	else {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		low = middle + 1;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	return -1;</a:t>
            </a:r>
          </a:p>
          <a:p>
            <a:pPr>
              <a:defRPr/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4000">
                <a:solidFill>
                  <a:srgbClr val="000000"/>
                </a:solidFill>
                <a:latin typeface="Calibri" pitchFamily="34" charset="0"/>
              </a:rPr>
              <a:t>Binary Search – implementation in C</a:t>
            </a:r>
            <a:endParaRPr lang="en-US" sz="160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418770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CustomShape 1"/>
          <p:cNvSpPr/>
          <p:nvPr/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CustomShape 2"/>
          <p:cNvSpPr/>
          <p:nvPr/>
        </p:nvSpPr>
        <p:spPr>
          <a:xfrm>
            <a:off x="457200" y="1600200"/>
            <a:ext cx="8226425" cy="50688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marL="457200" indent="-457200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The  function  receives four  arguments:</a:t>
            </a:r>
          </a:p>
          <a:p>
            <a:pPr marL="914400" lvl="1" indent="-457200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an  integer  array </a:t>
            </a:r>
            <a:r>
              <a:rPr lang="en-US" sz="2400" i="1" dirty="0">
                <a:latin typeface="Calibri" pitchFamily="34" charset="0"/>
              </a:rPr>
              <a:t> b   </a:t>
            </a:r>
            <a:r>
              <a:rPr lang="en-US" sz="2400" dirty="0">
                <a:latin typeface="Calibri" pitchFamily="34" charset="0"/>
              </a:rPr>
              <a:t>to be searched, </a:t>
            </a:r>
          </a:p>
          <a:p>
            <a:pPr marL="914400" lvl="1" indent="-457200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an  integer </a:t>
            </a:r>
            <a:r>
              <a:rPr lang="en-US" sz="2400" i="1" dirty="0">
                <a:latin typeface="Calibri" pitchFamily="34" charset="0"/>
              </a:rPr>
              <a:t>search key</a:t>
            </a:r>
            <a:r>
              <a:rPr lang="en-US" sz="2400" dirty="0">
                <a:latin typeface="Calibri" pitchFamily="34" charset="0"/>
              </a:rPr>
              <a:t>,</a:t>
            </a:r>
          </a:p>
          <a:p>
            <a:pPr marL="914400" lvl="1" indent="-457200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the </a:t>
            </a:r>
            <a:r>
              <a:rPr lang="en-US" sz="2400" i="1" dirty="0">
                <a:latin typeface="Calibri" pitchFamily="34" charset="0"/>
              </a:rPr>
              <a:t>low</a:t>
            </a:r>
            <a:r>
              <a:rPr lang="en-US" sz="2400" dirty="0">
                <a:latin typeface="Calibri" pitchFamily="34" charset="0"/>
              </a:rPr>
              <a:t> array subscript and</a:t>
            </a:r>
          </a:p>
          <a:p>
            <a:pPr marL="914400" lvl="1" indent="-457200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the </a:t>
            </a:r>
            <a:r>
              <a:rPr lang="en-US" sz="2400" i="1" dirty="0">
                <a:latin typeface="Calibri" pitchFamily="34" charset="0"/>
              </a:rPr>
              <a:t>high</a:t>
            </a:r>
            <a:r>
              <a:rPr lang="en-US" sz="2400" dirty="0">
                <a:latin typeface="Calibri" pitchFamily="34" charset="0"/>
              </a:rPr>
              <a:t> array subscript </a:t>
            </a:r>
          </a:p>
          <a:p>
            <a:pPr marL="914400" lvl="1" indent="-457200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/>
              <a:t>low and high define the portion of the array to be searched.</a:t>
            </a:r>
          </a:p>
          <a:p>
            <a:pPr marL="457200" indent="-457200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AU" sz="2400" dirty="0">
                <a:latin typeface="Calibri" pitchFamily="34" charset="0"/>
              </a:rPr>
              <a:t>If the search key does not match the middle element of a sub­ array, the low subscript or high subscript is modified so that a smaller subarray can be searched.</a:t>
            </a:r>
          </a:p>
          <a:p>
            <a:pPr marL="457200" indent="-457200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AU" sz="2400" dirty="0">
                <a:latin typeface="Calibri" pitchFamily="34" charset="0"/>
              </a:rPr>
              <a:t>If the search key is less than the middle element, the high subscript is set to middle - 1 and, the search is continued on the elements from low to middle - 1.</a:t>
            </a:r>
          </a:p>
          <a:p>
            <a:pPr marL="457200" indent="-457200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AU" sz="2400" dirty="0">
                <a:latin typeface="Calibri" pitchFamily="34" charset="0"/>
              </a:rPr>
              <a:t>If the search key is greater than the middle element, the low subscript is set to middle + 1and the search is continued on the elements from middle + 1to high.</a:t>
            </a:r>
          </a:p>
        </p:txBody>
      </p:sp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4000">
                <a:solidFill>
                  <a:srgbClr val="000000"/>
                </a:solidFill>
                <a:latin typeface="Calibri" pitchFamily="34" charset="0"/>
              </a:rPr>
              <a:t>Binary Search – iterative version</a:t>
            </a:r>
            <a:endParaRPr lang="en-US" sz="160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458327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CustomShape 1"/>
          <p:cNvSpPr/>
          <p:nvPr/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8" name="CustomShape 2"/>
          <p:cNvSpPr/>
          <p:nvPr/>
        </p:nvSpPr>
        <p:spPr>
          <a:xfrm>
            <a:off x="457200" y="1571625"/>
            <a:ext cx="8226425" cy="50260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eaLnBrk="1" hangingPunct="1">
              <a:defRPr/>
            </a:pPr>
            <a:r>
              <a:rPr lang="en-US" sz="2400" dirty="0">
                <a:latin typeface="Calibri" pitchFamily="34" charset="0"/>
              </a:rPr>
              <a:t>Assume this is the sorted array:</a:t>
            </a:r>
          </a:p>
          <a:p>
            <a:pPr eaLnBrk="1" hangingPunct="1">
              <a:defRPr/>
            </a:pPr>
            <a:endParaRPr lang="en-US" sz="2400" dirty="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 dirty="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 dirty="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 dirty="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 dirty="0">
              <a:latin typeface="Calibri" pitchFamily="34" charset="0"/>
            </a:endParaRPr>
          </a:p>
          <a:p>
            <a:pPr eaLnBrk="1" hangingPunct="1">
              <a:defRPr/>
            </a:pPr>
            <a:r>
              <a:rPr lang="en-US" sz="2400" dirty="0">
                <a:latin typeface="Calibri" pitchFamily="34" charset="0"/>
              </a:rPr>
              <a:t>Noted that,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1</a:t>
            </a:r>
            <a:r>
              <a:rPr lang="en-US" sz="2400" baseline="30000" dirty="0">
                <a:latin typeface="Calibri" pitchFamily="34" charset="0"/>
              </a:rPr>
              <a:t>st</a:t>
            </a:r>
            <a:r>
              <a:rPr lang="en-US" sz="2400" dirty="0">
                <a:latin typeface="Calibri" pitchFamily="34" charset="0"/>
              </a:rPr>
              <a:t> row is the array index – the position of an element in the array.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The array consists of 15 elements.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ceil(15/2)=8, ceil(8/2)=4, ceil(4/2)=2, ceil(2/2)=1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 pitchFamily="34" charset="0"/>
              </a:rPr>
              <a:t>=&gt; A maximum of 4 comparisons are required  to find the search key. </a:t>
            </a:r>
          </a:p>
          <a:p>
            <a:pPr eaLnBrk="1" hangingPunct="1">
              <a:defRPr/>
            </a:pPr>
            <a:endParaRPr lang="en-AU" sz="2400" dirty="0">
              <a:solidFill>
                <a:srgbClr val="FF0000"/>
              </a:solidFill>
              <a:latin typeface="Calibri" pitchFamily="34" charset="0"/>
            </a:endParaRPr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4400">
                <a:solidFill>
                  <a:srgbClr val="000000"/>
                </a:solidFill>
                <a:latin typeface="Calibri" pitchFamily="34" charset="0"/>
              </a:rPr>
              <a:t>Binary Search – output (1)</a:t>
            </a:r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5650" y="2276475"/>
          <a:ext cx="7129463" cy="965200"/>
        </p:xfrm>
        <a:graphic>
          <a:graphicData uri="http://schemas.openxmlformats.org/drawingml/2006/table">
            <a:tbl>
              <a:tblPr/>
              <a:tblGrid>
                <a:gridCol w="474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0</a:t>
                      </a:r>
                      <a:endParaRPr kumimoji="0" lang="en-AU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</a:t>
                      </a:r>
                      <a:endParaRPr kumimoji="0" lang="en-AU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4</a:t>
                      </a:r>
                      <a:endParaRPr kumimoji="0" lang="en-AU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6</a:t>
                      </a:r>
                      <a:endParaRPr kumimoji="0" lang="en-AU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8</a:t>
                      </a:r>
                      <a:endParaRPr kumimoji="0" lang="en-AU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10</a:t>
                      </a:r>
                      <a:endParaRPr kumimoji="0" lang="en-AU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2853887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CustomShape 1"/>
          <p:cNvSpPr/>
          <p:nvPr/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8" name="CustomShape 2"/>
          <p:cNvSpPr/>
          <p:nvPr/>
        </p:nvSpPr>
        <p:spPr>
          <a:xfrm>
            <a:off x="457200" y="1571625"/>
            <a:ext cx="8226425" cy="50260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eaLnBrk="1" hangingPunct="1">
              <a:defRPr/>
            </a:pPr>
            <a:r>
              <a:rPr lang="en-US" sz="2400" dirty="0">
                <a:latin typeface="Calibri" pitchFamily="34" charset="0"/>
              </a:rPr>
              <a:t>Enter   a  number between  0 and  28: 6</a:t>
            </a:r>
          </a:p>
          <a:p>
            <a:pPr eaLnBrk="1" hangingPunct="1">
              <a:defRPr/>
            </a:pPr>
            <a:endParaRPr lang="en-US" sz="2400" dirty="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 dirty="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 dirty="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 dirty="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 dirty="0">
              <a:latin typeface="Calibri" pitchFamily="34" charset="0"/>
            </a:endParaRPr>
          </a:p>
          <a:p>
            <a:pPr eaLnBrk="1" hangingPunct="1">
              <a:defRPr/>
            </a:pPr>
            <a:r>
              <a:rPr lang="en-US" sz="2400" dirty="0">
                <a:latin typeface="Calibri" pitchFamily="34" charset="0"/>
              </a:rPr>
              <a:t/>
            </a:r>
            <a:br>
              <a:rPr lang="en-US" sz="2400" dirty="0">
                <a:latin typeface="Calibri" pitchFamily="34" charset="0"/>
              </a:rPr>
            </a:br>
            <a:endParaRPr lang="en-US" sz="2400" dirty="0">
              <a:latin typeface="Calibri" pitchFamily="34" charset="0"/>
            </a:endParaRPr>
          </a:p>
          <a:p>
            <a:pPr eaLnBrk="1" hangingPunct="1">
              <a:defRPr/>
            </a:pPr>
            <a:r>
              <a:rPr lang="en-US" sz="2400" dirty="0">
                <a:latin typeface="Calibri" pitchFamily="34" charset="0"/>
              </a:rPr>
              <a:t>6 found  in  array element   3</a:t>
            </a:r>
          </a:p>
          <a:p>
            <a:pPr eaLnBrk="1" hangingPunct="1">
              <a:defRPr/>
            </a:pPr>
            <a:endParaRPr lang="en-US" sz="2400" dirty="0">
              <a:latin typeface="Calibri" pitchFamily="34" charset="0"/>
            </a:endParaRPr>
          </a:p>
          <a:p>
            <a:pPr eaLnBrk="1" hangingPunct="1">
              <a:defRPr/>
            </a:pPr>
            <a:r>
              <a:rPr lang="en-AU" sz="2400" dirty="0">
                <a:latin typeface="Calibri" pitchFamily="34" charset="0"/>
              </a:rPr>
              <a:t>Noted that, an asterisk (*) indicates the middle element in the array/each subarray - the element that is compared with the search key.</a:t>
            </a:r>
            <a:endParaRPr lang="en-US" sz="2400" dirty="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 dirty="0">
              <a:solidFill>
                <a:srgbClr val="FF0000"/>
              </a:solidFill>
              <a:latin typeface="Calibri" pitchFamily="34" charset="0"/>
            </a:endParaRPr>
          </a:p>
          <a:p>
            <a:pPr eaLnBrk="1" hangingPunct="1">
              <a:defRPr/>
            </a:pPr>
            <a:endParaRPr lang="en-AU" sz="2400" dirty="0">
              <a:solidFill>
                <a:srgbClr val="FF0000"/>
              </a:solidFill>
              <a:latin typeface="Calibri" pitchFamily="34" charset="0"/>
            </a:endParaRPr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4400">
                <a:solidFill>
                  <a:srgbClr val="000000"/>
                </a:solidFill>
                <a:latin typeface="Calibri" pitchFamily="34" charset="0"/>
              </a:rPr>
              <a:t>Binary Search – output (2)</a:t>
            </a:r>
            <a:endParaRPr lang="en-US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00113" y="2619375"/>
          <a:ext cx="7127875" cy="1447800"/>
        </p:xfrm>
        <a:graphic>
          <a:graphicData uri="http://schemas.openxmlformats.org/drawingml/2006/table">
            <a:tbl>
              <a:tblPr/>
              <a:tblGrid>
                <a:gridCol w="474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0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4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6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8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10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14*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0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4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6*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8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10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 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6608365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CustomShape 1"/>
          <p:cNvSpPr/>
          <p:nvPr/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8" name="CustomShape 2"/>
          <p:cNvSpPr/>
          <p:nvPr/>
        </p:nvSpPr>
        <p:spPr>
          <a:xfrm>
            <a:off x="457200" y="1571625"/>
            <a:ext cx="8226425" cy="50260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eaLnBrk="1" hangingPunct="1">
              <a:defRPr/>
            </a:pPr>
            <a:r>
              <a:rPr lang="en-US" sz="2400">
                <a:latin typeface="Calibri" pitchFamily="34" charset="0"/>
              </a:rPr>
              <a:t>Enter   a  number between  0 and  28: 8</a:t>
            </a: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r>
              <a:rPr lang="en-US" sz="2400">
                <a:latin typeface="Calibri" pitchFamily="34" charset="0"/>
              </a:rPr>
              <a:t/>
            </a:r>
            <a:br>
              <a:rPr lang="en-US" sz="2400">
                <a:latin typeface="Calibri" pitchFamily="34" charset="0"/>
              </a:rPr>
            </a:b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r>
              <a:rPr lang="en-US" sz="2400">
                <a:latin typeface="Calibri" pitchFamily="34" charset="0"/>
              </a:rPr>
              <a:t>8  found  in  array element   4</a:t>
            </a:r>
            <a:endParaRPr lang="en-US" sz="2400">
              <a:solidFill>
                <a:srgbClr val="FF0000"/>
              </a:solidFill>
              <a:latin typeface="Calibri" pitchFamily="34" charset="0"/>
            </a:endParaRPr>
          </a:p>
          <a:p>
            <a:pPr eaLnBrk="1" hangingPunct="1">
              <a:defRPr/>
            </a:pPr>
            <a:endParaRPr lang="en-AU" sz="2400">
              <a:solidFill>
                <a:srgbClr val="FF0000"/>
              </a:solidFill>
              <a:latin typeface="Calibri" pitchFamily="34" charset="0"/>
            </a:endParaRPr>
          </a:p>
          <a:p>
            <a:pPr eaLnBrk="1" hangingPunct="1">
              <a:defRPr/>
            </a:pPr>
            <a:endParaRPr lang="en-US"/>
          </a:p>
        </p:txBody>
      </p:sp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4400">
                <a:solidFill>
                  <a:srgbClr val="000000"/>
                </a:solidFill>
                <a:latin typeface="Calibri" pitchFamily="34" charset="0"/>
              </a:rPr>
              <a:t>Binary Search – output (3)</a:t>
            </a:r>
            <a:endParaRPr lang="en-US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00113" y="2619375"/>
          <a:ext cx="7127875" cy="2413000"/>
        </p:xfrm>
        <a:graphic>
          <a:graphicData uri="http://schemas.openxmlformats.org/drawingml/2006/table">
            <a:tbl>
              <a:tblPr/>
              <a:tblGrid>
                <a:gridCol w="474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0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4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6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8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10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14*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0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4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6*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8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10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 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8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10*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155916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CustomShape 1"/>
          <p:cNvSpPr/>
          <p:nvPr/>
        </p:nvSpPr>
        <p:spPr>
          <a:xfrm>
            <a:off x="457200" y="2746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8" name="CustomShape 2"/>
          <p:cNvSpPr/>
          <p:nvPr/>
        </p:nvSpPr>
        <p:spPr>
          <a:xfrm>
            <a:off x="457200" y="1571625"/>
            <a:ext cx="8226425" cy="50260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eaLnBrk="1" hangingPunct="1">
              <a:defRPr/>
            </a:pPr>
            <a:r>
              <a:rPr lang="en-US" sz="2400">
                <a:latin typeface="Calibri" pitchFamily="34" charset="0"/>
              </a:rPr>
              <a:t>Enter   a  number between  0 and  28: 25</a:t>
            </a: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r>
              <a:rPr lang="en-US" sz="2400">
                <a:latin typeface="Calibri" pitchFamily="34" charset="0"/>
              </a:rPr>
              <a:t/>
            </a:r>
            <a:br>
              <a:rPr lang="en-US" sz="2400">
                <a:latin typeface="Calibri" pitchFamily="34" charset="0"/>
              </a:rPr>
            </a:b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endParaRPr lang="en-US" sz="2400">
              <a:latin typeface="Calibri" pitchFamily="34" charset="0"/>
            </a:endParaRPr>
          </a:p>
          <a:p>
            <a:pPr eaLnBrk="1" hangingPunct="1">
              <a:defRPr/>
            </a:pPr>
            <a:r>
              <a:rPr lang="en-US" sz="2400">
                <a:latin typeface="Calibri" pitchFamily="34" charset="0"/>
              </a:rPr>
              <a:t>25  not found</a:t>
            </a:r>
            <a:endParaRPr lang="en-AU" sz="2400">
              <a:solidFill>
                <a:srgbClr val="FF0000"/>
              </a:solidFill>
              <a:latin typeface="Calibri" pitchFamily="34" charset="0"/>
            </a:endParaRPr>
          </a:p>
          <a:p>
            <a:pPr eaLnBrk="1" hangingPunct="1">
              <a:defRPr/>
            </a:pPr>
            <a:endParaRPr lang="en-US"/>
          </a:p>
        </p:txBody>
      </p:sp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4400">
                <a:solidFill>
                  <a:srgbClr val="000000"/>
                </a:solidFill>
                <a:latin typeface="Calibri" pitchFamily="34" charset="0"/>
              </a:rPr>
              <a:t>Binary Search – output (4)</a:t>
            </a:r>
            <a:endParaRPr lang="en-US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00113" y="2619375"/>
          <a:ext cx="7127875" cy="2413000"/>
        </p:xfrm>
        <a:graphic>
          <a:graphicData uri="http://schemas.openxmlformats.org/drawingml/2006/table">
            <a:tbl>
              <a:tblPr/>
              <a:tblGrid>
                <a:gridCol w="474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466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0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4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6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8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10</a:t>
                      </a: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14*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22*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26*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2540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91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5088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96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DejaVu Sans"/>
                          <a:cs typeface="DejaVu Sans"/>
                        </a:rPr>
                        <a:t>24*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5563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marR="0" lvl="0" indent="0" algn="ctr" defTabSz="914400" rtl="0" eaLnBrk="1" fontAlgn="base" latinLnBrk="0" hangingPunct="1">
                        <a:lnSpc>
                          <a:spcPts val="1013"/>
                        </a:lnSpc>
                        <a:spcBef>
                          <a:spcPts val="41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DejaVu Sans"/>
                        <a:cs typeface="DejaVu San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0" cap="flat" cmpd="dbl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9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4791598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3600" dirty="0">
                <a:solidFill>
                  <a:srgbClr val="000000"/>
                </a:solidFill>
                <a:latin typeface="Calibri" pitchFamily="34" charset="0"/>
              </a:rPr>
              <a:t>Binary Search – algorithm efficiency (1)</a:t>
            </a:r>
            <a:endParaRPr lang="en-US" sz="1400" dirty="0"/>
          </a:p>
        </p:txBody>
      </p:sp>
      <p:sp>
        <p:nvSpPr>
          <p:cNvPr id="34819" name="Subtitle 2"/>
          <p:cNvSpPr>
            <a:spLocks noGrp="1"/>
          </p:cNvSpPr>
          <p:nvPr>
            <p:ph type="subTitle"/>
          </p:nvPr>
        </p:nvSpPr>
        <p:spPr>
          <a:xfrm>
            <a:off x="457200" y="1566863"/>
            <a:ext cx="8229600" cy="5030787"/>
          </a:xfrm>
        </p:spPr>
        <p:txBody>
          <a:bodyPr>
            <a:normAutofit lnSpcReduction="10000"/>
          </a:bodyPr>
          <a:lstStyle/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altLang="en-US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In a worst case-scenario, searching an array of 1023 elements takes only 10 compari­sons using a binary search.</a:t>
            </a: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altLang="en-US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Repeatedly dividing 1024 by 2 gives the values 512, 256, 128, 64, 32, 16, 8, 4, 2 and 1.</a:t>
            </a: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altLang="en-US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The  number  1024  (2^10)  is divided by 2 only 10 times to get the value 1.</a:t>
            </a: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altLang="en-US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Dividing  by 2 is equivalent to one comparison  in the binary search algorithm.</a:t>
            </a: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altLang="en-US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An array of 1048576 (2^20) elements  takes a maximum  of 20 comparisons to find the search key.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7152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3600" dirty="0">
                <a:solidFill>
                  <a:srgbClr val="000000"/>
                </a:solidFill>
                <a:latin typeface="Calibri" pitchFamily="34" charset="0"/>
              </a:rPr>
              <a:t>Binary Search – algorithm efficiency (2)</a:t>
            </a:r>
            <a:endParaRPr lang="en-US" sz="1400" dirty="0"/>
          </a:p>
        </p:txBody>
      </p:sp>
      <p:sp>
        <p:nvSpPr>
          <p:cNvPr id="35843" name="Subtitle 2"/>
          <p:cNvSpPr>
            <a:spLocks noGrp="1"/>
          </p:cNvSpPr>
          <p:nvPr>
            <p:ph type="subTitle"/>
          </p:nvPr>
        </p:nvSpPr>
        <p:spPr>
          <a:xfrm>
            <a:off x="457200" y="1700213"/>
            <a:ext cx="8229600" cy="4824412"/>
          </a:xfrm>
        </p:spPr>
        <p:txBody>
          <a:bodyPr>
            <a:normAutofit fontScale="92500" lnSpcReduction="10000"/>
          </a:bodyPr>
          <a:lstStyle/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An array of one billion elements takes a maximum of 30 comparisons to find the search key.</a:t>
            </a:r>
            <a:endParaRPr lang="en-AU" sz="3200" kern="1200" dirty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This is a </a:t>
            </a:r>
            <a:r>
              <a:rPr lang="en-US" sz="3200" kern="12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great improvement in </a:t>
            </a:r>
            <a:r>
              <a:rPr lang="en-US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performance </a:t>
            </a:r>
            <a:r>
              <a:rPr lang="en-US" sz="3200" kern="12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compared to linear </a:t>
            </a:r>
            <a:r>
              <a:rPr lang="en-US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search </a:t>
            </a:r>
            <a:r>
              <a:rPr lang="en-US" sz="3200" kern="12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algorithm – that required </a:t>
            </a:r>
            <a:r>
              <a:rPr lang="en-US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comparing the search key to an average of half of the array </a:t>
            </a:r>
            <a:r>
              <a:rPr lang="en-US" sz="3200" kern="12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elements.</a:t>
            </a: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200" kern="12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For </a:t>
            </a:r>
            <a:r>
              <a:rPr lang="en-US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a one­ billion-element array, this is a difference between an average of 500 million comparisons and a maximum of 30 </a:t>
            </a:r>
            <a:r>
              <a:rPr lang="en-US" sz="3200" kern="12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comparisons.</a:t>
            </a: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200" kern="12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The </a:t>
            </a:r>
            <a:r>
              <a:rPr lang="en-US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maximum comparisons for any array can be determined by finding the first power of 2 greater than the number of array elements</a:t>
            </a:r>
            <a:r>
              <a:rPr lang="en-US" sz="3200" kern="12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4602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3600" dirty="0">
                <a:solidFill>
                  <a:srgbClr val="000000"/>
                </a:solidFill>
                <a:latin typeface="Calibri" pitchFamily="34" charset="0"/>
              </a:rPr>
              <a:t>Binary Search –Big O</a:t>
            </a:r>
            <a:endParaRPr lang="en-US" sz="1400" dirty="0"/>
          </a:p>
        </p:txBody>
      </p:sp>
      <p:sp>
        <p:nvSpPr>
          <p:cNvPr id="35843" name="Subtitle 2"/>
          <p:cNvSpPr>
            <a:spLocks noGrp="1"/>
          </p:cNvSpPr>
          <p:nvPr>
            <p:ph type="subTitle"/>
          </p:nvPr>
        </p:nvSpPr>
        <p:spPr>
          <a:xfrm>
            <a:off x="457200" y="1700213"/>
            <a:ext cx="8229600" cy="4824412"/>
          </a:xfrm>
        </p:spPr>
        <p:txBody>
          <a:bodyPr>
            <a:normAutofit/>
          </a:bodyPr>
          <a:lstStyle/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AU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Worst case performance O(log n</a:t>
            </a:r>
            <a:r>
              <a:rPr lang="en-AU" sz="3200" kern="12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)</a:t>
            </a: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AU" sz="3200" kern="1200" dirty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AU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Best case performance O(1</a:t>
            </a:r>
            <a:r>
              <a:rPr lang="en-AU" sz="3200" kern="12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)</a:t>
            </a: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AU" sz="3200" kern="1200" dirty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AU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Average case performance O(log n</a:t>
            </a:r>
            <a:r>
              <a:rPr lang="en-AU" sz="3200" kern="120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)</a:t>
            </a: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AU" sz="3200" kern="1200" dirty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  <a:p>
            <a:pPr marL="457200" indent="-457200" algn="l" eaLnBrk="1" hangingPunct="1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AU" sz="32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Worst case space complexity O(1)</a:t>
            </a:r>
            <a:endParaRPr lang="en-US" sz="3200" kern="1200" dirty="0" smtClean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89760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09600" y="427038"/>
            <a:ext cx="8226425" cy="113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 eaLnBrk="1" hangingPunct="1">
              <a:defRPr/>
            </a:pPr>
            <a:r>
              <a:rPr lang="en-AU" sz="3600">
                <a:solidFill>
                  <a:srgbClr val="000000"/>
                </a:solidFill>
                <a:latin typeface="Calibri" pitchFamily="34" charset="0"/>
              </a:rPr>
              <a:t>Binary Search – summary</a:t>
            </a:r>
            <a:endParaRPr lang="en-US" sz="1400"/>
          </a:p>
        </p:txBody>
      </p:sp>
      <p:sp>
        <p:nvSpPr>
          <p:cNvPr id="36867" name="Subtitle 2"/>
          <p:cNvSpPr>
            <a:spLocks noGrp="1"/>
          </p:cNvSpPr>
          <p:nvPr>
            <p:ph type="subTitle"/>
          </p:nvPr>
        </p:nvSpPr>
        <p:spPr>
          <a:xfrm>
            <a:off x="381000" y="1563053"/>
            <a:ext cx="8229600" cy="4824412"/>
          </a:xfrm>
        </p:spPr>
        <p:txBody>
          <a:bodyPr/>
          <a:lstStyle/>
          <a:p>
            <a:pPr marL="457200" indent="-457200" algn="l" eaLnBrk="1" hangingPunct="1"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en-US" altLang="en-US" sz="30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If the list to be searched is big, a binary search is better (requires fewer comparisons) than a linear search.</a:t>
            </a:r>
          </a:p>
          <a:p>
            <a:pPr marL="457200" indent="-457200" algn="l" eaLnBrk="1" hangingPunct="1"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en-US" altLang="en-US" sz="30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But the requirement is that the list must be sorted.</a:t>
            </a:r>
          </a:p>
          <a:p>
            <a:pPr marL="457200" indent="-457200" algn="l" eaLnBrk="1" hangingPunct="1"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en-US" altLang="en-US" sz="30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If the contents of the array are modified between searches, maintaining these requirements may even take more time than the searches.</a:t>
            </a:r>
          </a:p>
          <a:p>
            <a:pPr marL="457200" indent="-457200" algn="l" eaLnBrk="1" hangingPunct="1"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en-US" altLang="en-US" sz="3000" kern="120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rPr>
              <a:t>If it is known that some items will be searched for much more often than others, and it can be arranged so that these items are at the start of the list, then a linear search may be the best.</a:t>
            </a:r>
            <a:endParaRPr lang="en-AU" altLang="en-US" sz="3000" kern="1200" dirty="0">
              <a:solidFill>
                <a:schemeClr val="tx1"/>
              </a:solidFill>
              <a:latin typeface="Calibri" pitchFamily="34" charset="0"/>
              <a:ea typeface="+mn-ea"/>
              <a:cs typeface="+mn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814" y="6197407"/>
            <a:ext cx="1321186" cy="66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861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winburnePowerpointTemplate-Simplified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609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Template-Simplified_Revised.potx" id="{4AA8D5AF-0C30-4C88-8F74-B7BDC0FAE084}" vid="{51D66EF1-03A9-44A2-9765-8604BE960669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1558</Words>
  <Application>Microsoft Office PowerPoint</Application>
  <PresentationFormat>On-screen Show (4:3)</PresentationFormat>
  <Paragraphs>346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Consolas</vt:lpstr>
      <vt:lpstr>DejaVu Sans</vt:lpstr>
      <vt:lpstr>Open Sans</vt:lpstr>
      <vt:lpstr>Times New Roman</vt:lpstr>
      <vt:lpstr>SwinburnePowerpointTemplate-Simplified</vt:lpstr>
      <vt:lpstr>1_Office Theme</vt:lpstr>
      <vt:lpstr>PowerPoint Presentation</vt:lpstr>
      <vt:lpstr>Test information – Week 9/Week 11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Prince</dc:creator>
  <cp:lastModifiedBy>Srikanth Thudumu</cp:lastModifiedBy>
  <cp:revision>16</cp:revision>
  <dcterms:created xsi:type="dcterms:W3CDTF">2006-08-16T00:00:00Z</dcterms:created>
  <dcterms:modified xsi:type="dcterms:W3CDTF">2018-08-04T04:32:37Z</dcterms:modified>
</cp:coreProperties>
</file>